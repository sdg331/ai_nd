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65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5110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3" Type="http://schemas.openxmlformats.org/officeDocument/2006/relationships/image" Target="../media/image1.png"/><Relationship Id="rId21" Type="http://schemas.openxmlformats.org/officeDocument/2006/relationships/image" Target="../media/image43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8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13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27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1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27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3" Type="http://schemas.openxmlformats.org/officeDocument/2006/relationships/image" Target="../media/image1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13.png"/><Relationship Id="rId15" Type="http://schemas.openxmlformats.org/officeDocument/2006/relationships/image" Target="../media/image66.png"/><Relationship Id="rId10" Type="http://schemas.openxmlformats.org/officeDocument/2006/relationships/image" Target="../media/image61.png"/><Relationship Id="rId4" Type="http://schemas.openxmlformats.org/officeDocument/2006/relationships/image" Target="../media/image27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1.png"/><Relationship Id="rId21" Type="http://schemas.openxmlformats.org/officeDocument/2006/relationships/image" Target="../media/image85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5" Type="http://schemas.openxmlformats.org/officeDocument/2006/relationships/image" Target="../media/image13.png"/><Relationship Id="rId15" Type="http://schemas.openxmlformats.org/officeDocument/2006/relationships/image" Target="../media/image79.png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4" Type="http://schemas.openxmlformats.org/officeDocument/2006/relationships/image" Target="../media/image27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Relationship Id="rId22" Type="http://schemas.openxmlformats.org/officeDocument/2006/relationships/image" Target="../media/image8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" Type="http://schemas.openxmlformats.org/officeDocument/2006/relationships/image" Target="../media/image1.png"/><Relationship Id="rId21" Type="http://schemas.openxmlformats.org/officeDocument/2006/relationships/image" Target="../media/image102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5.png"/><Relationship Id="rId5" Type="http://schemas.openxmlformats.org/officeDocument/2006/relationships/image" Target="../media/image13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10" Type="http://schemas.openxmlformats.org/officeDocument/2006/relationships/image" Target="../media/image91.png"/><Relationship Id="rId19" Type="http://schemas.openxmlformats.org/officeDocument/2006/relationships/image" Target="../media/image100.png"/><Relationship Id="rId4" Type="http://schemas.openxmlformats.org/officeDocument/2006/relationships/image" Target="../media/image27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Relationship Id="rId22" Type="http://schemas.openxmlformats.org/officeDocument/2006/relationships/image" Target="../media/image10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3.png"/><Relationship Id="rId18" Type="http://schemas.openxmlformats.org/officeDocument/2006/relationships/image" Target="../media/image118.png"/><Relationship Id="rId26" Type="http://schemas.openxmlformats.org/officeDocument/2006/relationships/image" Target="../media/image126.png"/><Relationship Id="rId21" Type="http://schemas.openxmlformats.org/officeDocument/2006/relationships/image" Target="../media/image121.png"/><Relationship Id="rId34" Type="http://schemas.openxmlformats.org/officeDocument/2006/relationships/image" Target="../media/image133.png"/><Relationship Id="rId7" Type="http://schemas.openxmlformats.org/officeDocument/2006/relationships/image" Target="../media/image107.png"/><Relationship Id="rId12" Type="http://schemas.openxmlformats.org/officeDocument/2006/relationships/image" Target="../media/image112.png"/><Relationship Id="rId17" Type="http://schemas.openxmlformats.org/officeDocument/2006/relationships/image" Target="../media/image117.png"/><Relationship Id="rId25" Type="http://schemas.openxmlformats.org/officeDocument/2006/relationships/image" Target="../media/image125.png"/><Relationship Id="rId33" Type="http://schemas.openxmlformats.org/officeDocument/2006/relationships/image" Target="../media/image132.png"/><Relationship Id="rId38" Type="http://schemas.openxmlformats.org/officeDocument/2006/relationships/image" Target="../media/image13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6.png"/><Relationship Id="rId20" Type="http://schemas.openxmlformats.org/officeDocument/2006/relationships/image" Target="../media/image120.png"/><Relationship Id="rId29" Type="http://schemas.openxmlformats.org/officeDocument/2006/relationships/image" Target="../media/image1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11" Type="http://schemas.openxmlformats.org/officeDocument/2006/relationships/image" Target="../media/image111.png"/><Relationship Id="rId24" Type="http://schemas.openxmlformats.org/officeDocument/2006/relationships/image" Target="../media/image124.png"/><Relationship Id="rId32" Type="http://schemas.openxmlformats.org/officeDocument/2006/relationships/image" Target="../media/image131.png"/><Relationship Id="rId37" Type="http://schemas.openxmlformats.org/officeDocument/2006/relationships/image" Target="../media/image136.png"/><Relationship Id="rId5" Type="http://schemas.openxmlformats.org/officeDocument/2006/relationships/image" Target="../media/image13.png"/><Relationship Id="rId15" Type="http://schemas.openxmlformats.org/officeDocument/2006/relationships/image" Target="../media/image115.png"/><Relationship Id="rId23" Type="http://schemas.openxmlformats.org/officeDocument/2006/relationships/image" Target="../media/image123.png"/><Relationship Id="rId28" Type="http://schemas.openxmlformats.org/officeDocument/2006/relationships/image" Target="../media/image128.png"/><Relationship Id="rId36" Type="http://schemas.openxmlformats.org/officeDocument/2006/relationships/image" Target="../media/image135.png"/><Relationship Id="rId10" Type="http://schemas.openxmlformats.org/officeDocument/2006/relationships/image" Target="../media/image110.png"/><Relationship Id="rId19" Type="http://schemas.openxmlformats.org/officeDocument/2006/relationships/image" Target="../media/image119.png"/><Relationship Id="rId31" Type="http://schemas.openxmlformats.org/officeDocument/2006/relationships/image" Target="../media/image130.png"/><Relationship Id="rId4" Type="http://schemas.openxmlformats.org/officeDocument/2006/relationships/image" Target="../media/image27.png"/><Relationship Id="rId9" Type="http://schemas.openxmlformats.org/officeDocument/2006/relationships/image" Target="../media/image109.png"/><Relationship Id="rId14" Type="http://schemas.openxmlformats.org/officeDocument/2006/relationships/image" Target="../media/image114.png"/><Relationship Id="rId22" Type="http://schemas.openxmlformats.org/officeDocument/2006/relationships/image" Target="../media/image122.png"/><Relationship Id="rId27" Type="http://schemas.openxmlformats.org/officeDocument/2006/relationships/image" Target="../media/image127.png"/><Relationship Id="rId30" Type="http://schemas.openxmlformats.org/officeDocument/2006/relationships/image" Target="../media/image77.png"/><Relationship Id="rId35" Type="http://schemas.openxmlformats.org/officeDocument/2006/relationships/image" Target="../media/image134.png"/><Relationship Id="rId8" Type="http://schemas.openxmlformats.org/officeDocument/2006/relationships/image" Target="../media/image108.png"/><Relationship Id="rId3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45.png"/><Relationship Id="rId18" Type="http://schemas.openxmlformats.org/officeDocument/2006/relationships/image" Target="../media/image150.png"/><Relationship Id="rId26" Type="http://schemas.openxmlformats.org/officeDocument/2006/relationships/image" Target="../media/image158.png"/><Relationship Id="rId3" Type="http://schemas.openxmlformats.org/officeDocument/2006/relationships/image" Target="../media/image1.png"/><Relationship Id="rId21" Type="http://schemas.openxmlformats.org/officeDocument/2006/relationships/image" Target="../media/image153.png"/><Relationship Id="rId7" Type="http://schemas.openxmlformats.org/officeDocument/2006/relationships/image" Target="../media/image139.png"/><Relationship Id="rId12" Type="http://schemas.openxmlformats.org/officeDocument/2006/relationships/image" Target="../media/image144.png"/><Relationship Id="rId17" Type="http://schemas.openxmlformats.org/officeDocument/2006/relationships/image" Target="../media/image149.png"/><Relationship Id="rId25" Type="http://schemas.openxmlformats.org/officeDocument/2006/relationships/image" Target="../media/image15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8.png"/><Relationship Id="rId20" Type="http://schemas.openxmlformats.org/officeDocument/2006/relationships/image" Target="../media/image152.png"/><Relationship Id="rId29" Type="http://schemas.openxmlformats.org/officeDocument/2006/relationships/image" Target="../media/image1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8.png"/><Relationship Id="rId11" Type="http://schemas.openxmlformats.org/officeDocument/2006/relationships/image" Target="../media/image143.png"/><Relationship Id="rId24" Type="http://schemas.openxmlformats.org/officeDocument/2006/relationships/image" Target="../media/image156.png"/><Relationship Id="rId5" Type="http://schemas.openxmlformats.org/officeDocument/2006/relationships/image" Target="../media/image13.png"/><Relationship Id="rId15" Type="http://schemas.openxmlformats.org/officeDocument/2006/relationships/image" Target="../media/image147.png"/><Relationship Id="rId23" Type="http://schemas.openxmlformats.org/officeDocument/2006/relationships/image" Target="../media/image155.png"/><Relationship Id="rId28" Type="http://schemas.openxmlformats.org/officeDocument/2006/relationships/image" Target="../media/image160.png"/><Relationship Id="rId10" Type="http://schemas.openxmlformats.org/officeDocument/2006/relationships/image" Target="../media/image142.png"/><Relationship Id="rId19" Type="http://schemas.openxmlformats.org/officeDocument/2006/relationships/image" Target="../media/image151.png"/><Relationship Id="rId4" Type="http://schemas.openxmlformats.org/officeDocument/2006/relationships/image" Target="../media/image27.png"/><Relationship Id="rId9" Type="http://schemas.openxmlformats.org/officeDocument/2006/relationships/image" Target="../media/image141.png"/><Relationship Id="rId14" Type="http://schemas.openxmlformats.org/officeDocument/2006/relationships/image" Target="../media/image146.png"/><Relationship Id="rId22" Type="http://schemas.openxmlformats.org/officeDocument/2006/relationships/image" Target="../media/image154.png"/><Relationship Id="rId27" Type="http://schemas.openxmlformats.org/officeDocument/2006/relationships/image" Target="../media/image159.png"/><Relationship Id="rId30" Type="http://schemas.openxmlformats.org/officeDocument/2006/relationships/image" Target="../media/image16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69.png"/><Relationship Id="rId18" Type="http://schemas.openxmlformats.org/officeDocument/2006/relationships/image" Target="../media/image174.png"/><Relationship Id="rId3" Type="http://schemas.openxmlformats.org/officeDocument/2006/relationships/image" Target="../media/image1.png"/><Relationship Id="rId7" Type="http://schemas.openxmlformats.org/officeDocument/2006/relationships/image" Target="../media/image164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3.png"/><Relationship Id="rId11" Type="http://schemas.openxmlformats.org/officeDocument/2006/relationships/image" Target="../media/image167.png"/><Relationship Id="rId5" Type="http://schemas.openxmlformats.org/officeDocument/2006/relationships/image" Target="../media/image13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4" Type="http://schemas.openxmlformats.org/officeDocument/2006/relationships/image" Target="../media/image27.png"/><Relationship Id="rId9" Type="http://schemas.openxmlformats.org/officeDocument/2006/relationships/image" Target="../media/image47.png"/><Relationship Id="rId14" Type="http://schemas.openxmlformats.org/officeDocument/2006/relationships/image" Target="../media/image1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76250"/>
            <a:ext cx="1428750" cy="2857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0" y="4191000"/>
            <a:ext cx="952500" cy="1905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1905000"/>
            <a:ext cx="1428750" cy="1428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8750" y="1314450"/>
            <a:ext cx="1714500" cy="1714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2625" y="1790700"/>
            <a:ext cx="666750" cy="762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15700" y="6362700"/>
            <a:ext cx="114300" cy="114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06200" y="6362700"/>
            <a:ext cx="114300" cy="1143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96700" y="6362700"/>
            <a:ext cx="114300" cy="114300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4170045" y="3486150"/>
            <a:ext cx="385191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8B451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FridgeChef</a:t>
            </a:r>
            <a:endParaRPr lang="en-US" sz="4500" dirty="0"/>
          </a:p>
        </p:txBody>
      </p:sp>
      <p:sp>
        <p:nvSpPr>
          <p:cNvPr id="13" name="Text 1"/>
          <p:cNvSpPr/>
          <p:nvPr/>
        </p:nvSpPr>
        <p:spPr>
          <a:xfrm>
            <a:off x="4632960" y="4362450"/>
            <a:ext cx="29260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dirty="0">
                <a:solidFill>
                  <a:srgbClr val="D66F5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냉장고 속 AI 셰프</a:t>
            </a:r>
            <a:endParaRPr lang="en-US" sz="2250" dirty="0"/>
          </a:p>
        </p:txBody>
      </p:sp>
      <p:sp>
        <p:nvSpPr>
          <p:cNvPr id="14" name="Text 2"/>
          <p:cNvSpPr/>
          <p:nvPr/>
        </p:nvSpPr>
        <p:spPr>
          <a:xfrm>
            <a:off x="3152775" y="5010150"/>
            <a:ext cx="588645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8B451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인공지능과 멀티모달 분석 기술로, 냉장고 속 재료와 요리 프로필을 기반으로
맞춤형 레시피를 생성하고 요리 과정을 지도해주는 모바일 쿠킹 솔루션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008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0086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538413"/>
            <a:ext cx="3606701" cy="20764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27175" y="2767013"/>
            <a:ext cx="666750" cy="666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7675" y="2928938"/>
            <a:ext cx="28575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2538413"/>
            <a:ext cx="3606850" cy="20764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2476" y="2767013"/>
            <a:ext cx="666750" cy="666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14876" y="2928938"/>
            <a:ext cx="36195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7950" y="2538413"/>
            <a:ext cx="3606701" cy="20764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97926" y="2767013"/>
            <a:ext cx="666750" cy="6667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50326" y="2928938"/>
            <a:ext cx="361950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4919663"/>
            <a:ext cx="11277600" cy="1524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624513"/>
            <a:ext cx="171450" cy="1714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967413"/>
            <a:ext cx="171450" cy="1714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58200" y="5529263"/>
            <a:ext cx="3048000" cy="685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10600" y="5681663"/>
            <a:ext cx="257175" cy="3810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개요 및 핵심 컨셉</a:t>
            </a:r>
            <a:endParaRPr lang="en-US" sz="2700" dirty="0"/>
          </a:p>
        </p:txBody>
      </p:sp>
      <p:sp>
        <p:nvSpPr>
          <p:cNvPr id="20" name="Text 1"/>
          <p:cNvSpPr/>
          <p:nvPr/>
        </p:nvSpPr>
        <p:spPr>
          <a:xfrm>
            <a:off x="457200" y="1257300"/>
            <a:ext cx="11277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FridgeChef</a:t>
            </a:r>
            <a:endParaRPr lang="en-US" sz="1800" dirty="0"/>
          </a:p>
        </p:txBody>
      </p:sp>
      <p:sp>
        <p:nvSpPr>
          <p:cNvPr id="21" name="Text 2"/>
          <p:cNvSpPr/>
          <p:nvPr/>
        </p:nvSpPr>
        <p:spPr>
          <a:xfrm>
            <a:off x="457200" y="1676400"/>
            <a:ext cx="11277600" cy="5572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94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인공지능(AI)과 멀티모달(이미지+텍스트) 분석 기술을 </a:t>
            </a:r>
            <a:r>
              <a:rPr lang="en-US" sz="13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활용해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b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3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냉장고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 재료와 나의 요리 프로필을 기반으로 맞춤 레시피를 생성해 주는 모바일 쿠킹 솔루션입니다.</a:t>
            </a:r>
            <a:endParaRPr lang="en-US" sz="1350" dirty="0"/>
          </a:p>
        </p:txBody>
      </p:sp>
      <p:sp>
        <p:nvSpPr>
          <p:cNvPr id="22" name="Text 3"/>
          <p:cNvSpPr/>
          <p:nvPr/>
        </p:nvSpPr>
        <p:spPr>
          <a:xfrm>
            <a:off x="1540460" y="3586163"/>
            <a:ext cx="14401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간편 재료 등록</a:t>
            </a:r>
            <a:endParaRPr lang="en-US" sz="1500" dirty="0"/>
          </a:p>
        </p:txBody>
      </p:sp>
      <p:sp>
        <p:nvSpPr>
          <p:cNvPr id="23" name="Text 4"/>
          <p:cNvSpPr/>
          <p:nvPr/>
        </p:nvSpPr>
        <p:spPr>
          <a:xfrm>
            <a:off x="685800" y="3929063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냉장고 사진/영수증/텍스트로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쉽게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등록하고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관리하세요.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5301466" y="3586163"/>
            <a:ext cx="15887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개인화된 레시피</a:t>
            </a:r>
            <a:endParaRPr lang="en-US" sz="1500" dirty="0"/>
          </a:p>
        </p:txBody>
      </p:sp>
      <p:sp>
        <p:nvSpPr>
          <p:cNvPr id="25" name="Text 6"/>
          <p:cNvSpPr/>
          <p:nvPr/>
        </p:nvSpPr>
        <p:spPr>
          <a:xfrm>
            <a:off x="4521101" y="3929063"/>
            <a:ext cx="31496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선호/비선호 재료, 알레르기,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조리도구를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맞춤 레시피를 생성합니다.</a:t>
            </a:r>
            <a:endParaRPr lang="en-US" sz="1200" dirty="0"/>
          </a:p>
        </p:txBody>
      </p:sp>
      <p:sp>
        <p:nvSpPr>
          <p:cNvPr id="26" name="Text 7"/>
          <p:cNvSpPr/>
          <p:nvPr/>
        </p:nvSpPr>
        <p:spPr>
          <a:xfrm>
            <a:off x="8965466" y="3586163"/>
            <a:ext cx="19316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 쿠킹 어시스턴트</a:t>
            </a:r>
            <a:endParaRPr lang="en-US" sz="1500" dirty="0"/>
          </a:p>
        </p:txBody>
      </p:sp>
      <p:sp>
        <p:nvSpPr>
          <p:cNvPr id="27" name="Text 8"/>
          <p:cNvSpPr/>
          <p:nvPr/>
        </p:nvSpPr>
        <p:spPr>
          <a:xfrm>
            <a:off x="8356550" y="3929063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요리 중 발생하는 돌발 상황을 AI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챗봇이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실시간으로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도와줍니다.</a:t>
            </a:r>
            <a:endParaRPr lang="en-US" sz="1200" dirty="0"/>
          </a:p>
        </p:txBody>
      </p:sp>
      <p:sp>
        <p:nvSpPr>
          <p:cNvPr id="28" name="Text 9"/>
          <p:cNvSpPr/>
          <p:nvPr/>
        </p:nvSpPr>
        <p:spPr>
          <a:xfrm>
            <a:off x="685800" y="5148263"/>
            <a:ext cx="10820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핵심 가치</a:t>
            </a:r>
            <a:endParaRPr lang="en-US" sz="1500" dirty="0"/>
          </a:p>
        </p:txBody>
      </p:sp>
      <p:sp>
        <p:nvSpPr>
          <p:cNvPr id="29" name="Text 10"/>
          <p:cNvSpPr/>
          <p:nvPr/>
        </p:nvSpPr>
        <p:spPr>
          <a:xfrm>
            <a:off x="933450" y="5567363"/>
            <a:ext cx="7543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음식물 낭비를 줄이고 재료를 효율적으로 활용할 수 있습니다.</a:t>
            </a:r>
            <a:endParaRPr lang="en-US" sz="1350" dirty="0"/>
          </a:p>
        </p:txBody>
      </p:sp>
      <p:sp>
        <p:nvSpPr>
          <p:cNvPr id="30" name="Text 11"/>
          <p:cNvSpPr/>
          <p:nvPr/>
        </p:nvSpPr>
        <p:spPr>
          <a:xfrm>
            <a:off x="933450" y="5910263"/>
            <a:ext cx="7543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요리 초보자도 쉽게 요리에 성공하여 자신감을 얻을 수 있습니다.</a:t>
            </a:r>
            <a:endParaRPr lang="en-US" sz="1350" dirty="0"/>
          </a:p>
        </p:txBody>
      </p:sp>
      <p:sp>
        <p:nvSpPr>
          <p:cNvPr id="31" name="Text 12"/>
          <p:cNvSpPr/>
          <p:nvPr/>
        </p:nvSpPr>
        <p:spPr>
          <a:xfrm>
            <a:off x="9020175" y="5738813"/>
            <a:ext cx="28003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"내 손안의 AI 셰프 + 요리 코치"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2350" y="1257300"/>
            <a:ext cx="1524000" cy="1524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4300" y="1562100"/>
            <a:ext cx="800100" cy="914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009900"/>
            <a:ext cx="3454301" cy="2286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763" y="3657600"/>
            <a:ext cx="21907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575" y="4038600"/>
            <a:ext cx="17145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7238" y="4419600"/>
            <a:ext cx="23812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6763" y="4800600"/>
            <a:ext cx="219075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16301" y="1257300"/>
            <a:ext cx="7518350" cy="2362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27500" y="199072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7557" y="2600325"/>
            <a:ext cx="13335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01908" y="3156241"/>
            <a:ext cx="13335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16301" y="3848100"/>
            <a:ext cx="7518350" cy="19431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92526" y="4534025"/>
            <a:ext cx="1714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17235" y="4581525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88359" y="5149559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01905" y="5191125"/>
            <a:ext cx="1524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타겟 페르소나 - 김지금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685800" y="3238500"/>
            <a:ext cx="299710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기본 정보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1181100" y="3676650"/>
            <a:ext cx="960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이름: 김지금</a:t>
            </a:r>
            <a:endParaRPr lang="en-US" sz="1200" dirty="0"/>
          </a:p>
        </p:txBody>
      </p:sp>
      <p:sp>
        <p:nvSpPr>
          <p:cNvPr id="24" name="Text 3"/>
          <p:cNvSpPr/>
          <p:nvPr/>
        </p:nvSpPr>
        <p:spPr>
          <a:xfrm>
            <a:off x="1181100" y="4057650"/>
            <a:ext cx="8229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나이: 23세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1181100" y="4438650"/>
            <a:ext cx="960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직업: 대학생</a:t>
            </a:r>
            <a:endParaRPr lang="en-US" sz="1200" dirty="0"/>
          </a:p>
        </p:txBody>
      </p:sp>
      <p:sp>
        <p:nvSpPr>
          <p:cNvPr id="26" name="Text 5"/>
          <p:cNvSpPr/>
          <p:nvPr/>
        </p:nvSpPr>
        <p:spPr>
          <a:xfrm>
            <a:off x="1181100" y="4819650"/>
            <a:ext cx="1394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거주 상황: 자취 중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4444901" y="1485900"/>
            <a:ext cx="70611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현재 상황</a:t>
            </a:r>
            <a:endParaRPr lang="en-US" sz="1800" dirty="0"/>
          </a:p>
        </p:txBody>
      </p:sp>
      <p:sp>
        <p:nvSpPr>
          <p:cNvPr id="28" name="Text 7"/>
          <p:cNvSpPr/>
          <p:nvPr/>
        </p:nvSpPr>
        <p:spPr>
          <a:xfrm>
            <a:off x="4817864" y="1905000"/>
            <a:ext cx="66881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재정 상황: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주머니 상황이 넉넉하지 않다. 알바 월급이 들어오기 전에 돈을 아끼고자 집에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재료를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통해 음식을 먹으려 한다.</a:t>
            </a:r>
            <a:endParaRPr lang="en-US" sz="1200" dirty="0"/>
          </a:p>
        </p:txBody>
      </p:sp>
      <p:sp>
        <p:nvSpPr>
          <p:cNvPr id="29" name="Text 8"/>
          <p:cNvSpPr/>
          <p:nvPr/>
        </p:nvSpPr>
        <p:spPr>
          <a:xfrm>
            <a:off x="4817864" y="2514600"/>
            <a:ext cx="6688187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냉장고 내용물: </a:t>
            </a:r>
            <a:r>
              <a:rPr lang="ko-KR" altLang="en-US" sz="1200" b="0" dirty="0">
                <a:effectLst/>
                <a:latin typeface="fkGroteskNeue"/>
              </a:rPr>
              <a:t>배달음식 이용이 빈번하여 남은 소스류와 음료가 주를 이루고 있으며</a:t>
            </a:r>
            <a:r>
              <a:rPr lang="en-US" altLang="ko-KR" sz="1200" b="0" dirty="0">
                <a:effectLst/>
                <a:latin typeface="fkGroteskNeue"/>
              </a:rPr>
              <a:t>,</a:t>
            </a:r>
            <a:br>
              <a:rPr lang="en-US" altLang="ko-KR" sz="1200" b="0" dirty="0">
                <a:effectLst/>
                <a:latin typeface="fkGroteskNeue"/>
              </a:rPr>
            </a:br>
            <a:r>
              <a:rPr lang="en-US" altLang="ko-KR" sz="1200" b="0" dirty="0">
                <a:effectLst/>
                <a:latin typeface="fkGroteskNeue"/>
              </a:rPr>
              <a:t>                            </a:t>
            </a:r>
            <a:r>
              <a:rPr lang="ko-KR" altLang="en-US" sz="1200" b="0" dirty="0">
                <a:effectLst/>
                <a:latin typeface="fkGroteskNeue"/>
              </a:rPr>
              <a:t>기본 식재료로는 김치</a:t>
            </a:r>
            <a:r>
              <a:rPr lang="en-US" altLang="ko-KR" sz="1200" b="0" dirty="0">
                <a:effectLst/>
                <a:latin typeface="fkGroteskNeue"/>
              </a:rPr>
              <a:t>, </a:t>
            </a:r>
            <a:r>
              <a:rPr lang="ko-KR" altLang="en-US" sz="1200" b="0" dirty="0">
                <a:effectLst/>
                <a:latin typeface="fkGroteskNeue"/>
              </a:rPr>
              <a:t>양파</a:t>
            </a:r>
            <a:r>
              <a:rPr lang="en-US" altLang="ko-KR" sz="1200" b="0" dirty="0">
                <a:effectLst/>
                <a:latin typeface="fkGroteskNeue"/>
              </a:rPr>
              <a:t>, </a:t>
            </a:r>
            <a:r>
              <a:rPr lang="ko-KR" altLang="en-US" sz="1200" b="0" dirty="0">
                <a:effectLst/>
                <a:latin typeface="fkGroteskNeue"/>
              </a:rPr>
              <a:t>삼겹살만 보유 중이다</a:t>
            </a:r>
            <a:r>
              <a:rPr lang="en-US" altLang="ko-KR" sz="1200" b="0" dirty="0">
                <a:effectLst/>
                <a:latin typeface="fkGroteskNeue"/>
              </a:rPr>
              <a:t>.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4817863" y="3124200"/>
            <a:ext cx="759755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요리 경험: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요리를 잘 할 줄 모르고, 관련된 정보도 많이 없기에 직접 찾아보기에도 어려운 상황이다.</a:t>
            </a:r>
            <a:endParaRPr lang="en-US" sz="1200" dirty="0"/>
          </a:p>
        </p:txBody>
      </p:sp>
      <p:sp>
        <p:nvSpPr>
          <p:cNvPr id="31" name="Text 10"/>
          <p:cNvSpPr/>
          <p:nvPr/>
        </p:nvSpPr>
        <p:spPr>
          <a:xfrm>
            <a:off x="4444901" y="4076700"/>
            <a:ext cx="70611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목표와 필요사항</a:t>
            </a:r>
            <a:endParaRPr lang="en-US" sz="1800" dirty="0"/>
          </a:p>
        </p:txBody>
      </p:sp>
      <p:sp>
        <p:nvSpPr>
          <p:cNvPr id="32" name="Text 11"/>
          <p:cNvSpPr/>
          <p:nvPr/>
        </p:nvSpPr>
        <p:spPr>
          <a:xfrm>
            <a:off x="4702077" y="4495800"/>
            <a:ext cx="319712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식비 절감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냉장고 재료를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효율적으로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활용하여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식비를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줄이고자 한다.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8449568" y="4495800"/>
            <a:ext cx="305648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요리 성공: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요리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초보자이기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때문에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요리 경험을 원한다.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4702076" y="5105400"/>
            <a:ext cx="325948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절약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레시피 탐색에 시간을 들이기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싫어하며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요리 방법을 원한다.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8418909" y="5105400"/>
            <a:ext cx="3087142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해결: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요리 중 발생하는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상황에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대처할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있는 방법이 필요하다.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764506"/>
            <a:ext cx="3606701" cy="2514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550" y="1955006"/>
            <a:ext cx="7620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9100" y="2145506"/>
            <a:ext cx="3429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3288506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3593306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3898106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764506"/>
            <a:ext cx="3606850" cy="2514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4851" y="1955006"/>
            <a:ext cx="762000" cy="762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67264" y="2145506"/>
            <a:ext cx="257175" cy="381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3001" y="3288506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3001" y="3593306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3001" y="3898106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7950" y="1764506"/>
            <a:ext cx="3606701" cy="2514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50301" y="1955006"/>
            <a:ext cx="762000" cy="762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36038" y="2145506"/>
            <a:ext cx="390525" cy="381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8450" y="3288506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8450" y="3593306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8450" y="3898106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4507706"/>
            <a:ext cx="11277600" cy="12573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" y="5231606"/>
            <a:ext cx="219075" cy="17145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81539" y="5222081"/>
            <a:ext cx="133350" cy="17145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핵심 기능 1 - 나의 냉장고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457200" y="1257300"/>
            <a:ext cx="13533120" cy="2786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94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냉장고는 세 가지 방식으로 재료를 등록하고, Vision AI와 OCR 기술로 자동으로 인식하여 간편하고 정확하게 관리할 수 있도록 도와줍니다.</a:t>
            </a:r>
            <a:endParaRPr lang="en-US" sz="1350" dirty="0"/>
          </a:p>
        </p:txBody>
      </p:sp>
      <p:sp>
        <p:nvSpPr>
          <p:cNvPr id="28" name="Text 2"/>
          <p:cNvSpPr/>
          <p:nvPr/>
        </p:nvSpPr>
        <p:spPr>
          <a:xfrm>
            <a:off x="1180415" y="2869406"/>
            <a:ext cx="21602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냉장고 내부 사진 촬영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76300" y="3250406"/>
            <a:ext cx="3143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냉장고 내부 사진을 촬영하여 재료를 인식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876300" y="3555206"/>
            <a:ext cx="29603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이미지에서 재료 자동 추출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76300" y="3860006"/>
            <a:ext cx="25831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인식된 재료 목록을 검토하고 수정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5518636" y="2869406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영수증 스캔</a:t>
            </a:r>
            <a:endParaRPr lang="en-US" sz="1500" dirty="0"/>
          </a:p>
        </p:txBody>
      </p:sp>
      <p:sp>
        <p:nvSpPr>
          <p:cNvPr id="33" name="Text 7"/>
          <p:cNvSpPr/>
          <p:nvPr/>
        </p:nvSpPr>
        <p:spPr>
          <a:xfrm>
            <a:off x="4711601" y="3250406"/>
            <a:ext cx="25831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마트 영수증을 촬영하여 내용 추출</a:t>
            </a:r>
            <a:endParaRPr lang="en-US" sz="1200" dirty="0"/>
          </a:p>
        </p:txBody>
      </p:sp>
      <p:sp>
        <p:nvSpPr>
          <p:cNvPr id="34" name="Text 8"/>
          <p:cNvSpPr/>
          <p:nvPr/>
        </p:nvSpPr>
        <p:spPr>
          <a:xfrm>
            <a:off x="4711601" y="3555206"/>
            <a:ext cx="2091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OCR로 품목 목록 자동 변환</a:t>
            </a:r>
            <a:endParaRPr lang="en-US" sz="1200" dirty="0"/>
          </a:p>
        </p:txBody>
      </p:sp>
      <p:sp>
        <p:nvSpPr>
          <p:cNvPr id="35" name="Text 9"/>
          <p:cNvSpPr/>
          <p:nvPr/>
        </p:nvSpPr>
        <p:spPr>
          <a:xfrm>
            <a:off x="4711601" y="3860006"/>
            <a:ext cx="26289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영수증에 나온 품목을 한 번에 추가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9102626" y="2869406"/>
            <a:ext cx="16573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직접 텍스트 입력</a:t>
            </a:r>
            <a:endParaRPr lang="en-US" sz="1500" dirty="0"/>
          </a:p>
        </p:txBody>
      </p:sp>
      <p:sp>
        <p:nvSpPr>
          <p:cNvPr id="37" name="Text 11"/>
          <p:cNvSpPr/>
          <p:nvPr/>
        </p:nvSpPr>
        <p:spPr>
          <a:xfrm>
            <a:off x="8547050" y="3250406"/>
            <a:ext cx="20231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재료명을 직접 입력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8547050" y="3555206"/>
            <a:ext cx="18059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유통기한과 수량을 설정</a:t>
            </a:r>
            <a:endParaRPr lang="en-US" sz="1200" dirty="0"/>
          </a:p>
        </p:txBody>
      </p:sp>
      <p:sp>
        <p:nvSpPr>
          <p:cNvPr id="39" name="Text 13"/>
          <p:cNvSpPr/>
          <p:nvPr/>
        </p:nvSpPr>
        <p:spPr>
          <a:xfrm>
            <a:off x="8547050" y="3860006"/>
            <a:ext cx="24117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재료는 리스트로 관리 가능</a:t>
            </a:r>
            <a:endParaRPr lang="en-US" sz="1200" dirty="0"/>
          </a:p>
        </p:txBody>
      </p:sp>
      <p:sp>
        <p:nvSpPr>
          <p:cNvPr id="40" name="Text 14"/>
          <p:cNvSpPr/>
          <p:nvPr/>
        </p:nvSpPr>
        <p:spPr>
          <a:xfrm>
            <a:off x="647700" y="4698206"/>
            <a:ext cx="1089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</a:rPr>
              <a:t>사용된 기술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942975" y="5174456"/>
            <a:ext cx="63550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AI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냉장고 사진에서 재료를 자동으로 </a:t>
            </a:r>
            <a:r>
              <a:rPr lang="en-US" sz="13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인식하고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</a:t>
            </a:r>
            <a:endParaRPr lang="en-US" sz="1350" dirty="0"/>
          </a:p>
        </p:txBody>
      </p:sp>
      <p:sp>
        <p:nvSpPr>
          <p:cNvPr id="42" name="Text 16"/>
          <p:cNvSpPr/>
          <p:nvPr/>
        </p:nvSpPr>
        <p:spPr>
          <a:xfrm>
            <a:off x="6076950" y="5155406"/>
            <a:ext cx="650875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OCR (Optical Character Recognition): </a:t>
            </a: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영수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 텍스트를 </a:t>
            </a:r>
            <a:r>
              <a:rPr lang="en-US" sz="13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디지털로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752600"/>
            <a:ext cx="5524500" cy="1295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" y="1943100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575" y="2047875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276600"/>
            <a:ext cx="5524500" cy="1295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3467100"/>
            <a:ext cx="476250" cy="4762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3571875"/>
            <a:ext cx="171450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752600"/>
            <a:ext cx="5524500" cy="1295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1943100"/>
            <a:ext cx="47625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43675" y="2047875"/>
            <a:ext cx="19050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0300" y="3276600"/>
            <a:ext cx="5524500" cy="1524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800" y="34671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43675" y="3571875"/>
            <a:ext cx="190500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5486400"/>
            <a:ext cx="11277600" cy="914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" y="5676900"/>
            <a:ext cx="514350" cy="533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2000" y="5791200"/>
            <a:ext cx="285750" cy="3048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핵심 기능 2 - 개인 프로필 설정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457200" y="12573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프로필 설정은 AI 레시피 생성 시 </a:t>
            </a:r>
            <a:r>
              <a:rPr lang="en-US" sz="13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맞춤 필터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활용되어, 사용자에게 최적화된 레시피를 추천받을 수 있게 합니다.</a:t>
            </a:r>
            <a:endParaRPr lang="en-US" sz="1350" dirty="0"/>
          </a:p>
        </p:txBody>
      </p:sp>
      <p:sp>
        <p:nvSpPr>
          <p:cNvPr id="22" name="Text 2"/>
          <p:cNvSpPr/>
          <p:nvPr/>
        </p:nvSpPr>
        <p:spPr>
          <a:xfrm>
            <a:off x="1276350" y="1943100"/>
            <a:ext cx="39147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알레르기 정보</a:t>
            </a:r>
            <a:endParaRPr lang="en-US" sz="1500" dirty="0"/>
          </a:p>
        </p:txBody>
      </p:sp>
      <p:sp>
        <p:nvSpPr>
          <p:cNvPr id="23" name="Text 3"/>
          <p:cNvSpPr/>
          <p:nvPr/>
        </p:nvSpPr>
        <p:spPr>
          <a:xfrm>
            <a:off x="1276350" y="2286000"/>
            <a:ext cx="46977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절대 사용 금지 재료를 등록하여 안전하게 요리할 수 있습니다.</a:t>
            </a:r>
            <a:endParaRPr lang="en-US" sz="1200" dirty="0"/>
          </a:p>
        </p:txBody>
      </p:sp>
      <p:sp>
        <p:nvSpPr>
          <p:cNvPr id="24" name="Text 4"/>
          <p:cNvSpPr/>
          <p:nvPr/>
        </p:nvSpPr>
        <p:spPr>
          <a:xfrm>
            <a:off x="1352550" y="2590800"/>
            <a:ext cx="41052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계란, 우유, 땅콩, 메밀 등</a:t>
            </a:r>
            <a:endParaRPr lang="en-US" sz="1050" dirty="0"/>
          </a:p>
        </p:txBody>
      </p:sp>
      <p:sp>
        <p:nvSpPr>
          <p:cNvPr id="25" name="Text 5"/>
          <p:cNvSpPr/>
          <p:nvPr/>
        </p:nvSpPr>
        <p:spPr>
          <a:xfrm>
            <a:off x="1276350" y="3467100"/>
            <a:ext cx="3048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보유 조리도구</a:t>
            </a:r>
            <a:endParaRPr lang="en-US" sz="1500" dirty="0"/>
          </a:p>
        </p:txBody>
      </p:sp>
      <p:sp>
        <p:nvSpPr>
          <p:cNvPr id="26" name="Text 6"/>
          <p:cNvSpPr/>
          <p:nvPr/>
        </p:nvSpPr>
        <p:spPr>
          <a:xfrm>
            <a:off x="1276350" y="3810000"/>
            <a:ext cx="365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보유한 조리도구에 맞춘 레시피를 추천받습니다.</a:t>
            </a:r>
            <a:endParaRPr lang="en-US" sz="1200" dirty="0"/>
          </a:p>
        </p:txBody>
      </p:sp>
      <p:sp>
        <p:nvSpPr>
          <p:cNvPr id="27" name="Text 7"/>
          <p:cNvSpPr/>
          <p:nvPr/>
        </p:nvSpPr>
        <p:spPr>
          <a:xfrm>
            <a:off x="1352550" y="4114800"/>
            <a:ext cx="3238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에어프라이어, 전자레인지, 오븐 등</a:t>
            </a:r>
            <a:endParaRPr lang="en-US" sz="1050" dirty="0"/>
          </a:p>
        </p:txBody>
      </p:sp>
      <p:sp>
        <p:nvSpPr>
          <p:cNvPr id="28" name="Text 8"/>
          <p:cNvSpPr/>
          <p:nvPr/>
        </p:nvSpPr>
        <p:spPr>
          <a:xfrm>
            <a:off x="7029450" y="1943100"/>
            <a:ext cx="3524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식단/건강 목표</a:t>
            </a:r>
            <a:endParaRPr lang="en-US" sz="1500" dirty="0"/>
          </a:p>
        </p:txBody>
      </p:sp>
      <p:sp>
        <p:nvSpPr>
          <p:cNvPr id="29" name="Text 9"/>
          <p:cNvSpPr/>
          <p:nvPr/>
        </p:nvSpPr>
        <p:spPr>
          <a:xfrm>
            <a:off x="7029450" y="2286000"/>
            <a:ext cx="422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다이어트, 비건, 저염식 등 개인의 건강 목표에 맞춥니다.</a:t>
            </a:r>
            <a:endParaRPr lang="en-US" sz="1200" dirty="0"/>
          </a:p>
        </p:txBody>
      </p:sp>
      <p:sp>
        <p:nvSpPr>
          <p:cNvPr id="30" name="Text 10"/>
          <p:cNvSpPr/>
          <p:nvPr/>
        </p:nvSpPr>
        <p:spPr>
          <a:xfrm>
            <a:off x="7105650" y="2590800"/>
            <a:ext cx="37147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다이어트, 비건, 저염식, 고단백 등</a:t>
            </a:r>
            <a:endParaRPr lang="en-US" sz="1050" dirty="0"/>
          </a:p>
        </p:txBody>
      </p:sp>
      <p:sp>
        <p:nvSpPr>
          <p:cNvPr id="31" name="Text 11"/>
          <p:cNvSpPr/>
          <p:nvPr/>
        </p:nvSpPr>
        <p:spPr>
          <a:xfrm>
            <a:off x="7029450" y="3467100"/>
            <a:ext cx="4514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선호/비선호 재료</a:t>
            </a:r>
            <a:endParaRPr lang="en-US" sz="1500" dirty="0"/>
          </a:p>
        </p:txBody>
      </p:sp>
      <p:sp>
        <p:nvSpPr>
          <p:cNvPr id="32" name="Text 12"/>
          <p:cNvSpPr/>
          <p:nvPr/>
        </p:nvSpPr>
        <p:spPr>
          <a:xfrm>
            <a:off x="7029450" y="3810000"/>
            <a:ext cx="45148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좋아하는 재료는 레시피에 더 많이 포함되게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싫어하는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제외합니다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3" name="Text 13"/>
          <p:cNvSpPr/>
          <p:nvPr/>
        </p:nvSpPr>
        <p:spPr>
          <a:xfrm>
            <a:off x="7105650" y="4343400"/>
            <a:ext cx="4705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선호: 한식, 중식, 일식 등</a:t>
            </a:r>
            <a:endParaRPr lang="en-US" sz="1050" dirty="0"/>
          </a:p>
        </p:txBody>
      </p:sp>
      <p:sp>
        <p:nvSpPr>
          <p:cNvPr id="34" name="Text 14"/>
          <p:cNvSpPr/>
          <p:nvPr/>
        </p:nvSpPr>
        <p:spPr>
          <a:xfrm>
            <a:off x="1314450" y="5676900"/>
            <a:ext cx="74009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</a:rPr>
              <a:t>레시피 생성시 </a:t>
            </a:r>
            <a:r>
              <a:rPr lang="en-US" altLang="ko-KR" sz="150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</a:rPr>
              <a:t>AI </a:t>
            </a:r>
            <a:r>
              <a:rPr lang="ko-KR" altLang="en-US" sz="150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</a:rPr>
              <a:t>활용</a:t>
            </a:r>
            <a:endParaRPr lang="en-US" sz="1500" dirty="0"/>
          </a:p>
        </p:txBody>
      </p:sp>
      <p:sp>
        <p:nvSpPr>
          <p:cNvPr id="35" name="Text 15"/>
          <p:cNvSpPr/>
          <p:nvPr/>
        </p:nvSpPr>
        <p:spPr>
          <a:xfrm>
            <a:off x="1314450" y="5981700"/>
            <a:ext cx="88811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설정한 모든 정보들이 AI 레시피 생성 시 필터/가중치/스타일 가이드로 반영되어, 사용자 맞춤형 레시피를 생성합니다.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43000"/>
            <a:ext cx="2743200" cy="1638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2954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38" y="1428750"/>
            <a:ext cx="200025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90962" y="1857375"/>
            <a:ext cx="142875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143000"/>
            <a:ext cx="2743200" cy="1638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6800" y="1295400"/>
            <a:ext cx="571500" cy="571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6825" y="1428750"/>
            <a:ext cx="17145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58163" y="1857375"/>
            <a:ext cx="142875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1600" y="1143000"/>
            <a:ext cx="2743200" cy="16383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12954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15450" y="1428750"/>
            <a:ext cx="22860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3505200"/>
            <a:ext cx="11277600" cy="2552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" y="4171950"/>
            <a:ext cx="171450" cy="1714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" y="4552950"/>
            <a:ext cx="171450" cy="1714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" y="4819650"/>
            <a:ext cx="171450" cy="1714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4457700"/>
            <a:ext cx="5448300" cy="647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10300" y="4838700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10375" y="4838700"/>
            <a:ext cx="114300" cy="1333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782300" y="4838700"/>
            <a:ext cx="609600" cy="762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82300" y="4838700"/>
            <a:ext cx="518071" cy="76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5219700"/>
            <a:ext cx="5448300" cy="647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10300" y="560070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10375" y="5600700"/>
            <a:ext cx="114300" cy="13335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782300" y="5600700"/>
            <a:ext cx="609600" cy="762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82300" y="5600700"/>
            <a:ext cx="365671" cy="76200"/>
          </a:xfrm>
          <a:prstGeom prst="rect">
            <a:avLst/>
          </a:prstGeom>
        </p:spPr>
      </p:pic>
      <p:sp>
        <p:nvSpPr>
          <p:cNvPr id="30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핵심 기능 3 - AI 레시피 생성</a:t>
            </a:r>
            <a:endParaRPr lang="en-US" sz="2700" dirty="0"/>
          </a:p>
        </p:txBody>
      </p:sp>
      <p:sp>
        <p:nvSpPr>
          <p:cNvPr id="31" name="Text 1"/>
          <p:cNvSpPr/>
          <p:nvPr/>
        </p:nvSpPr>
        <p:spPr>
          <a:xfrm>
            <a:off x="1295400" y="1447800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 취합</a:t>
            </a:r>
            <a:endParaRPr lang="en-US" sz="1500" dirty="0"/>
          </a:p>
        </p:txBody>
      </p:sp>
      <p:sp>
        <p:nvSpPr>
          <p:cNvPr id="32" name="Text 2"/>
          <p:cNvSpPr/>
          <p:nvPr/>
        </p:nvSpPr>
        <p:spPr>
          <a:xfrm>
            <a:off x="609600" y="1943100"/>
            <a:ext cx="2438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냉장고 재료 목록과 사용자 프로필 정보를 Flask 백엔드에서 Google Sheets로부터 조회합니다.</a:t>
            </a:r>
            <a:endParaRPr lang="en-US" sz="1200" dirty="0"/>
          </a:p>
        </p:txBody>
      </p:sp>
      <p:sp>
        <p:nvSpPr>
          <p:cNvPr id="33" name="Text 3"/>
          <p:cNvSpPr/>
          <p:nvPr/>
        </p:nvSpPr>
        <p:spPr>
          <a:xfrm>
            <a:off x="5562600" y="14478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프롬프트 구성</a:t>
            </a:r>
            <a:endParaRPr lang="en-US" sz="1500" dirty="0"/>
          </a:p>
        </p:txBody>
      </p:sp>
      <p:sp>
        <p:nvSpPr>
          <p:cNvPr id="34" name="Text 4"/>
          <p:cNvSpPr/>
          <p:nvPr/>
        </p:nvSpPr>
        <p:spPr>
          <a:xfrm>
            <a:off x="4876800" y="1943100"/>
            <a:ext cx="2438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조회된 재료와 프로필 데이터를 종합 프롬프트로 구성하여 AI에게 전달합니다.</a:t>
            </a:r>
            <a:endParaRPr lang="en-US" sz="1200" dirty="0"/>
          </a:p>
        </p:txBody>
      </p:sp>
      <p:sp>
        <p:nvSpPr>
          <p:cNvPr id="35" name="Text 5"/>
          <p:cNvSpPr/>
          <p:nvPr/>
        </p:nvSpPr>
        <p:spPr>
          <a:xfrm>
            <a:off x="9829800" y="1447800"/>
            <a:ext cx="18402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Gemini API 처리</a:t>
            </a:r>
            <a:endParaRPr lang="en-US" sz="1500" dirty="0"/>
          </a:p>
        </p:txBody>
      </p:sp>
      <p:sp>
        <p:nvSpPr>
          <p:cNvPr id="36" name="Text 6"/>
          <p:cNvSpPr/>
          <p:nvPr/>
        </p:nvSpPr>
        <p:spPr>
          <a:xfrm>
            <a:off x="9144000" y="1943100"/>
            <a:ext cx="2438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구성된 프롬프트를 Gemini-Pro API로 전송하고, JSON 또는 마크다운 구조로 레시피를 생성합니다.</a:t>
            </a:r>
            <a:endParaRPr lang="en-US" sz="1200" dirty="0"/>
          </a:p>
        </p:txBody>
      </p:sp>
      <p:sp>
        <p:nvSpPr>
          <p:cNvPr id="37" name="Text 7"/>
          <p:cNvSpPr/>
          <p:nvPr/>
        </p:nvSpPr>
        <p:spPr>
          <a:xfrm>
            <a:off x="647700" y="3695700"/>
            <a:ext cx="10896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레시피 최적화 로직</a:t>
            </a:r>
            <a:endParaRPr lang="en-US" sz="1800" dirty="0"/>
          </a:p>
        </p:txBody>
      </p:sp>
      <p:sp>
        <p:nvSpPr>
          <p:cNvPr id="38" name="Text 8"/>
          <p:cNvSpPr/>
          <p:nvPr/>
        </p:nvSpPr>
        <p:spPr>
          <a:xfrm>
            <a:off x="895350" y="4114800"/>
            <a:ext cx="62636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보유 재료 소진율 계산 로직으로 레시피를 정렬합니다.</a:t>
            </a:r>
            <a:endParaRPr lang="en-US" sz="1350" dirty="0"/>
          </a:p>
        </p:txBody>
      </p:sp>
      <p:sp>
        <p:nvSpPr>
          <p:cNvPr id="39" name="Text 9"/>
          <p:cNvSpPr/>
          <p:nvPr/>
        </p:nvSpPr>
        <p:spPr>
          <a:xfrm>
            <a:off x="895350" y="44958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보유 재료를 최대한 활용하여 낭비를 줄이고요</a:t>
            </a:r>
            <a:endParaRPr lang="en-US" sz="1350" dirty="0"/>
          </a:p>
        </p:txBody>
      </p:sp>
      <p:sp>
        <p:nvSpPr>
          <p:cNvPr id="40" name="Text 10"/>
          <p:cNvSpPr/>
          <p:nvPr/>
        </p:nvSpPr>
        <p:spPr>
          <a:xfrm>
            <a:off x="895350" y="47625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부족한 재료는 최소한으로 추천합니다.</a:t>
            </a:r>
            <a:endParaRPr lang="en-US" sz="1350" dirty="0"/>
          </a:p>
        </p:txBody>
      </p:sp>
      <p:sp>
        <p:nvSpPr>
          <p:cNvPr id="41" name="Text 11"/>
          <p:cNvSpPr/>
          <p:nvPr/>
        </p:nvSpPr>
        <p:spPr>
          <a:xfrm>
            <a:off x="6096000" y="4114800"/>
            <a:ext cx="5448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카드 예시</a:t>
            </a:r>
            <a:endParaRPr lang="en-US" sz="1350" dirty="0"/>
          </a:p>
        </p:txBody>
      </p:sp>
      <p:sp>
        <p:nvSpPr>
          <p:cNvPr id="42" name="Text 12"/>
          <p:cNvSpPr/>
          <p:nvPr/>
        </p:nvSpPr>
        <p:spPr>
          <a:xfrm>
            <a:off x="6210300" y="4572000"/>
            <a:ext cx="11620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713F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계란말이</a:t>
            </a:r>
            <a:endParaRPr lang="en-US" sz="1200" dirty="0"/>
          </a:p>
        </p:txBody>
      </p:sp>
      <p:sp>
        <p:nvSpPr>
          <p:cNvPr id="43" name="Text 13"/>
          <p:cNvSpPr/>
          <p:nvPr/>
        </p:nvSpPr>
        <p:spPr>
          <a:xfrm>
            <a:off x="6381750" y="4800600"/>
            <a:ext cx="5829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15분</a:t>
            </a:r>
            <a:endParaRPr lang="en-US" sz="1050" dirty="0"/>
          </a:p>
        </p:txBody>
      </p:sp>
      <p:sp>
        <p:nvSpPr>
          <p:cNvPr id="44" name="Text 14"/>
          <p:cNvSpPr/>
          <p:nvPr/>
        </p:nvSpPr>
        <p:spPr>
          <a:xfrm>
            <a:off x="6962775" y="4800600"/>
            <a:ext cx="6743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초간단</a:t>
            </a:r>
            <a:endParaRPr lang="en-US" sz="1050" dirty="0"/>
          </a:p>
        </p:txBody>
      </p:sp>
      <p:sp>
        <p:nvSpPr>
          <p:cNvPr id="45" name="Text 15"/>
          <p:cNvSpPr/>
          <p:nvPr/>
        </p:nvSpPr>
        <p:spPr>
          <a:xfrm>
            <a:off x="10218420" y="4648200"/>
            <a:ext cx="12115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 소진율: 85%</a:t>
            </a:r>
            <a:endParaRPr lang="en-US" sz="1050" dirty="0"/>
          </a:p>
        </p:txBody>
      </p:sp>
      <p:sp>
        <p:nvSpPr>
          <p:cNvPr id="46" name="Text 16"/>
          <p:cNvSpPr/>
          <p:nvPr/>
        </p:nvSpPr>
        <p:spPr>
          <a:xfrm>
            <a:off x="6210300" y="5334000"/>
            <a:ext cx="103822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713F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된장찌개</a:t>
            </a:r>
            <a:endParaRPr lang="en-US" sz="1200" dirty="0"/>
          </a:p>
        </p:txBody>
      </p:sp>
      <p:sp>
        <p:nvSpPr>
          <p:cNvPr id="47" name="Text 17"/>
          <p:cNvSpPr/>
          <p:nvPr/>
        </p:nvSpPr>
        <p:spPr>
          <a:xfrm>
            <a:off x="6381750" y="5562600"/>
            <a:ext cx="5829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25분</a:t>
            </a:r>
            <a:endParaRPr lang="en-US" sz="1050" dirty="0"/>
          </a:p>
        </p:txBody>
      </p:sp>
      <p:sp>
        <p:nvSpPr>
          <p:cNvPr id="48" name="Text 18"/>
          <p:cNvSpPr/>
          <p:nvPr/>
        </p:nvSpPr>
        <p:spPr>
          <a:xfrm>
            <a:off x="6962775" y="5562600"/>
            <a:ext cx="5257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중간</a:t>
            </a:r>
            <a:endParaRPr lang="en-US" sz="1050" dirty="0"/>
          </a:p>
        </p:txBody>
      </p:sp>
      <p:sp>
        <p:nvSpPr>
          <p:cNvPr id="49" name="Text 19"/>
          <p:cNvSpPr/>
          <p:nvPr/>
        </p:nvSpPr>
        <p:spPr>
          <a:xfrm>
            <a:off x="10218420" y="5410200"/>
            <a:ext cx="12115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 소진율: 60%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1100"/>
            <a:ext cx="5410200" cy="1066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371600"/>
            <a:ext cx="190500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467100"/>
            <a:ext cx="5410200" cy="2781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3657600"/>
            <a:ext cx="2457450" cy="685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3810000"/>
            <a:ext cx="238125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6525" y="4495800"/>
            <a:ext cx="3000375" cy="533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90825" y="4610100"/>
            <a:ext cx="3048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76550" y="4686300"/>
            <a:ext cx="13335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" y="5181600"/>
            <a:ext cx="3520380" cy="8763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5334000"/>
            <a:ext cx="238125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600" y="1181100"/>
            <a:ext cx="5410200" cy="1066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1333500"/>
            <a:ext cx="476250" cy="4762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19875" y="1438275"/>
            <a:ext cx="190500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4600" y="2400300"/>
            <a:ext cx="5410200" cy="1066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7000" y="2552700"/>
            <a:ext cx="476250" cy="4762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19875" y="2657475"/>
            <a:ext cx="19050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24600" y="3619500"/>
            <a:ext cx="5410200" cy="838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3771900"/>
            <a:ext cx="476250" cy="4762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43688" y="3876675"/>
            <a:ext cx="142875" cy="2667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24600" y="4686300"/>
            <a:ext cx="5410200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77000" y="4876800"/>
            <a:ext cx="152400" cy="1524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핵심 기능 4 - AI 쿠킹 어시스턴트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876300" y="1333500"/>
            <a:ext cx="5105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실시간 챗봇 상담</a:t>
            </a:r>
            <a:endParaRPr lang="en-US" sz="1500" dirty="0"/>
          </a:p>
        </p:txBody>
      </p:sp>
      <p:sp>
        <p:nvSpPr>
          <p:cNvPr id="28" name="Text 2"/>
          <p:cNvSpPr/>
          <p:nvPr/>
        </p:nvSpPr>
        <p:spPr>
          <a:xfrm>
            <a:off x="609600" y="17145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요리 중 발생하는 돌발 상황에 대해 AI 챗봇이 실시간으로 해결책을 제안합니다.</a:t>
            </a:r>
            <a:endParaRPr lang="en-US" sz="1200" dirty="0"/>
          </a:p>
        </p:txBody>
      </p:sp>
      <p:sp>
        <p:nvSpPr>
          <p:cNvPr id="29" name="Text 3"/>
          <p:cNvSpPr/>
          <p:nvPr/>
        </p:nvSpPr>
        <p:spPr>
          <a:xfrm>
            <a:off x="1114425" y="3771900"/>
            <a:ext cx="22517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상황을 알려주세요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1114425" y="4038600"/>
            <a:ext cx="22517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간이 짜요 / 이 재료 대신 뭐 써요?</a:t>
            </a:r>
            <a:endParaRPr lang="en-US" sz="1050" dirty="0"/>
          </a:p>
        </p:txBody>
      </p:sp>
      <p:sp>
        <p:nvSpPr>
          <p:cNvPr id="31" name="Text 5"/>
          <p:cNvSpPr/>
          <p:nvPr/>
        </p:nvSpPr>
        <p:spPr>
          <a:xfrm>
            <a:off x="3209925" y="4610100"/>
            <a:ext cx="28232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간이 짜요. 소금 대신에 뭐 쓸 수 있을까요?</a:t>
            </a:r>
            <a:endParaRPr lang="en-US" sz="1050" dirty="0"/>
          </a:p>
        </p:txBody>
      </p:sp>
      <p:sp>
        <p:nvSpPr>
          <p:cNvPr id="32" name="Text 6"/>
          <p:cNvSpPr/>
          <p:nvPr/>
        </p:nvSpPr>
        <p:spPr>
          <a:xfrm>
            <a:off x="1114425" y="5295900"/>
            <a:ext cx="293935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대체 재료 추천</a:t>
            </a:r>
            <a:endParaRPr lang="en-US" sz="1200" dirty="0"/>
          </a:p>
        </p:txBody>
      </p:sp>
      <p:sp>
        <p:nvSpPr>
          <p:cNvPr id="33" name="Text 7"/>
          <p:cNvSpPr/>
          <p:nvPr/>
        </p:nvSpPr>
        <p:spPr>
          <a:xfrm>
            <a:off x="1114425" y="5562600"/>
            <a:ext cx="293935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소금 대신에 허브나 커리가루를 사용해보세요. 요리 중이라면 워터 게이트 액체 소금도 좋습니다.</a:t>
            </a:r>
            <a:endParaRPr lang="en-US" sz="1050" dirty="0"/>
          </a:p>
        </p:txBody>
      </p:sp>
      <p:sp>
        <p:nvSpPr>
          <p:cNvPr id="34" name="Text 8"/>
          <p:cNvSpPr/>
          <p:nvPr/>
        </p:nvSpPr>
        <p:spPr>
          <a:xfrm>
            <a:off x="7105650" y="1333500"/>
            <a:ext cx="4476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대화 기록 기반 조언</a:t>
            </a:r>
            <a:endParaRPr lang="en-US" sz="1350" dirty="0"/>
          </a:p>
        </p:txBody>
      </p:sp>
      <p:sp>
        <p:nvSpPr>
          <p:cNvPr id="35" name="Text 9"/>
          <p:cNvSpPr/>
          <p:nvPr/>
        </p:nvSpPr>
        <p:spPr>
          <a:xfrm>
            <a:off x="7105650" y="1638300"/>
            <a:ext cx="4476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사용자별, 레시피별 대화 기록을 관리하여 이전 상황을 기억하고 맞춤형 조언을 제공합니다.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7105650" y="2552700"/>
            <a:ext cx="4476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레시피 컨텍스트 이해</a:t>
            </a:r>
            <a:endParaRPr lang="en-US" sz="1350" dirty="0"/>
          </a:p>
        </p:txBody>
      </p:sp>
      <p:sp>
        <p:nvSpPr>
          <p:cNvPr id="37" name="Text 11"/>
          <p:cNvSpPr/>
          <p:nvPr/>
        </p:nvSpPr>
        <p:spPr>
          <a:xfrm>
            <a:off x="7105650" y="2857500"/>
            <a:ext cx="4476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조리 단계와 레시피 전체 내용을 고려하여 가장 안전하고 현실적인 해결책을 제시합니다.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7105650" y="3771900"/>
            <a:ext cx="4419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음성 질문 가능 (프리미엄)</a:t>
            </a:r>
            <a:endParaRPr lang="en-US" sz="1350" dirty="0"/>
          </a:p>
        </p:txBody>
      </p:sp>
      <p:sp>
        <p:nvSpPr>
          <p:cNvPr id="39" name="Text 13"/>
          <p:cNvSpPr/>
          <p:nvPr/>
        </p:nvSpPr>
        <p:spPr>
          <a:xfrm>
            <a:off x="7105650" y="4076700"/>
            <a:ext cx="5303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프리미엄 구독 시, AI에게 음성으로 질문할 수 있는 기능을 추가합니다.</a:t>
            </a:r>
            <a:endParaRPr lang="en-US" sz="1200" dirty="0"/>
          </a:p>
        </p:txBody>
      </p:sp>
      <p:sp>
        <p:nvSpPr>
          <p:cNvPr id="40" name="Text 14"/>
          <p:cNvSpPr/>
          <p:nvPr/>
        </p:nvSpPr>
        <p:spPr>
          <a:xfrm>
            <a:off x="6705600" y="48387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 시점: 레시피 생성 후 쿠킹 모드 진입 시에만 사용할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5487" y="2500313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6488" y="2500313"/>
            <a:ext cx="762000" cy="285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7488" y="2500313"/>
            <a:ext cx="762000" cy="285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2200" y="2895600"/>
            <a:ext cx="4191000" cy="2857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200" y="2895600"/>
            <a:ext cx="4191000" cy="2857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1181100"/>
            <a:ext cx="2743200" cy="21145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1371600"/>
            <a:ext cx="47625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1457325"/>
            <a:ext cx="17145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" y="200977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2314575"/>
            <a:ext cx="17145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" y="2619375"/>
            <a:ext cx="1905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" y="2924175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1901" y="1181100"/>
            <a:ext cx="2743200" cy="21145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92401" y="1371600"/>
            <a:ext cx="476250" cy="4762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16226" y="1457325"/>
            <a:ext cx="228600" cy="304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92401" y="2009775"/>
            <a:ext cx="13335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92401" y="2314575"/>
            <a:ext cx="17145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92401" y="2619375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492401" y="2924175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146602" y="1181100"/>
            <a:ext cx="2743200" cy="211455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37102" y="1371600"/>
            <a:ext cx="476250" cy="4762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75214" y="1457325"/>
            <a:ext cx="200025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37102" y="2009775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337102" y="2314575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337102" y="2619375"/>
            <a:ext cx="13335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337102" y="2924175"/>
            <a:ext cx="13335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91302" y="1181100"/>
            <a:ext cx="2743200" cy="21145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181802" y="1371600"/>
            <a:ext cx="476250" cy="4762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305627" y="1457325"/>
            <a:ext cx="228600" cy="3048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81802" y="2009775"/>
            <a:ext cx="152400" cy="1524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81802" y="2314575"/>
            <a:ext cx="171450" cy="1524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181802" y="2619375"/>
            <a:ext cx="17145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181802" y="2924175"/>
            <a:ext cx="114300" cy="1524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7200" y="5067300"/>
            <a:ext cx="5524500" cy="13335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7700" y="5638800"/>
            <a:ext cx="152400" cy="1524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9450" y="5638800"/>
            <a:ext cx="152400" cy="1524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7700" y="5943600"/>
            <a:ext cx="152400" cy="1524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9450" y="5943600"/>
            <a:ext cx="152400" cy="1524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210300" y="5067300"/>
            <a:ext cx="5524500" cy="13335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00800" y="5638800"/>
            <a:ext cx="171450" cy="1524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972550" y="5638800"/>
            <a:ext cx="171450" cy="1524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00800" y="5943600"/>
            <a:ext cx="171450" cy="1524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972550" y="5943600"/>
            <a:ext cx="171450" cy="152400"/>
          </a:xfrm>
          <a:prstGeom prst="rect">
            <a:avLst/>
          </a:prstGeom>
        </p:spPr>
      </p:pic>
      <p:sp>
        <p:nvSpPr>
          <p:cNvPr id="48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기술 아키텍처</a:t>
            </a:r>
            <a:endParaRPr lang="en-US" sz="2700" dirty="0"/>
          </a:p>
        </p:txBody>
      </p:sp>
      <p:sp>
        <p:nvSpPr>
          <p:cNvPr id="49" name="Text 1"/>
          <p:cNvSpPr/>
          <p:nvPr/>
        </p:nvSpPr>
        <p:spPr>
          <a:xfrm>
            <a:off x="1238250" y="1476375"/>
            <a:ext cx="10744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Frontend</a:t>
            </a:r>
            <a:endParaRPr lang="en-US" sz="1500" dirty="0"/>
          </a:p>
        </p:txBody>
      </p:sp>
      <p:sp>
        <p:nvSpPr>
          <p:cNvPr id="50" name="Text 2"/>
          <p:cNvSpPr/>
          <p:nvPr/>
        </p:nvSpPr>
        <p:spPr>
          <a:xfrm>
            <a:off x="685800" y="19621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React Native</a:t>
            </a:r>
            <a:endParaRPr lang="en-US" sz="1200" dirty="0"/>
          </a:p>
        </p:txBody>
      </p:sp>
      <p:sp>
        <p:nvSpPr>
          <p:cNvPr id="51" name="Text 3"/>
          <p:cNvSpPr/>
          <p:nvPr/>
        </p:nvSpPr>
        <p:spPr>
          <a:xfrm>
            <a:off x="704850" y="22669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Screens, Components</a:t>
            </a:r>
            <a:endParaRPr lang="en-US" sz="1200" dirty="0"/>
          </a:p>
        </p:txBody>
      </p:sp>
      <p:sp>
        <p:nvSpPr>
          <p:cNvPr id="52" name="Text 4"/>
          <p:cNvSpPr/>
          <p:nvPr/>
        </p:nvSpPr>
        <p:spPr>
          <a:xfrm>
            <a:off x="723900" y="25717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Communication</a:t>
            </a:r>
            <a:endParaRPr lang="en-US" sz="1200" dirty="0"/>
          </a:p>
        </p:txBody>
      </p:sp>
      <p:sp>
        <p:nvSpPr>
          <p:cNvPr id="53" name="Text 5"/>
          <p:cNvSpPr/>
          <p:nvPr/>
        </p:nvSpPr>
        <p:spPr>
          <a:xfrm>
            <a:off x="685800" y="2876550"/>
            <a:ext cx="2552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Navigation</a:t>
            </a:r>
            <a:endParaRPr lang="en-US" sz="1200" dirty="0"/>
          </a:p>
        </p:txBody>
      </p:sp>
      <p:sp>
        <p:nvSpPr>
          <p:cNvPr id="54" name="Text 6"/>
          <p:cNvSpPr/>
          <p:nvPr/>
        </p:nvSpPr>
        <p:spPr>
          <a:xfrm>
            <a:off x="4082951" y="1476375"/>
            <a:ext cx="10058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653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Backend</a:t>
            </a:r>
            <a:endParaRPr lang="en-US" sz="1500" dirty="0"/>
          </a:p>
        </p:txBody>
      </p:sp>
      <p:sp>
        <p:nvSpPr>
          <p:cNvPr id="55" name="Text 7"/>
          <p:cNvSpPr/>
          <p:nvPr/>
        </p:nvSpPr>
        <p:spPr>
          <a:xfrm>
            <a:off x="3511451" y="19621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Python Flask</a:t>
            </a:r>
            <a:endParaRPr lang="en-US" sz="1200" dirty="0"/>
          </a:p>
        </p:txBody>
      </p:sp>
      <p:sp>
        <p:nvSpPr>
          <p:cNvPr id="56" name="Text 8"/>
          <p:cNvSpPr/>
          <p:nvPr/>
        </p:nvSpPr>
        <p:spPr>
          <a:xfrm>
            <a:off x="3549551" y="22669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REST API Routes</a:t>
            </a:r>
            <a:endParaRPr lang="en-US" sz="1200" dirty="0"/>
          </a:p>
        </p:txBody>
      </p:sp>
      <p:sp>
        <p:nvSpPr>
          <p:cNvPr id="57" name="Text 9"/>
          <p:cNvSpPr/>
          <p:nvPr/>
        </p:nvSpPr>
        <p:spPr>
          <a:xfrm>
            <a:off x="3568601" y="25717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Business Logic Services</a:t>
            </a:r>
            <a:endParaRPr lang="en-US" sz="1200" dirty="0"/>
          </a:p>
        </p:txBody>
      </p:sp>
      <p:sp>
        <p:nvSpPr>
          <p:cNvPr id="58" name="Text 10"/>
          <p:cNvSpPr/>
          <p:nvPr/>
        </p:nvSpPr>
        <p:spPr>
          <a:xfrm>
            <a:off x="3530501" y="28765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API Integration</a:t>
            </a:r>
            <a:endParaRPr lang="en-US" sz="1200" dirty="0"/>
          </a:p>
        </p:txBody>
      </p:sp>
      <p:sp>
        <p:nvSpPr>
          <p:cNvPr id="59" name="Text 11"/>
          <p:cNvSpPr/>
          <p:nvPr/>
        </p:nvSpPr>
        <p:spPr>
          <a:xfrm>
            <a:off x="6927652" y="1476375"/>
            <a:ext cx="10744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6B21A8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Database</a:t>
            </a:r>
            <a:endParaRPr lang="en-US" sz="1500" dirty="0"/>
          </a:p>
        </p:txBody>
      </p:sp>
      <p:sp>
        <p:nvSpPr>
          <p:cNvPr id="60" name="Text 12"/>
          <p:cNvSpPr/>
          <p:nvPr/>
        </p:nvSpPr>
        <p:spPr>
          <a:xfrm>
            <a:off x="6375202" y="19621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Google Sheets</a:t>
            </a:r>
            <a:endParaRPr lang="en-US" sz="1200" dirty="0"/>
          </a:p>
        </p:txBody>
      </p:sp>
      <p:sp>
        <p:nvSpPr>
          <p:cNvPr id="61" name="Text 13"/>
          <p:cNvSpPr/>
          <p:nvPr/>
        </p:nvSpPr>
        <p:spPr>
          <a:xfrm>
            <a:off x="6375202" y="22669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User Profiles</a:t>
            </a:r>
            <a:endParaRPr lang="en-US" sz="1200" dirty="0"/>
          </a:p>
        </p:txBody>
      </p:sp>
      <p:sp>
        <p:nvSpPr>
          <p:cNvPr id="62" name="Text 14"/>
          <p:cNvSpPr/>
          <p:nvPr/>
        </p:nvSpPr>
        <p:spPr>
          <a:xfrm>
            <a:off x="6356152" y="25717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Fridge Items</a:t>
            </a:r>
            <a:endParaRPr lang="en-US" sz="1200" dirty="0"/>
          </a:p>
        </p:txBody>
      </p:sp>
      <p:sp>
        <p:nvSpPr>
          <p:cNvPr id="63" name="Text 15"/>
          <p:cNvSpPr/>
          <p:nvPr/>
        </p:nvSpPr>
        <p:spPr>
          <a:xfrm>
            <a:off x="6356152" y="2876550"/>
            <a:ext cx="2552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Recipes</a:t>
            </a:r>
            <a:endParaRPr lang="en-US" sz="1200" dirty="0"/>
          </a:p>
        </p:txBody>
      </p:sp>
      <p:sp>
        <p:nvSpPr>
          <p:cNvPr id="64" name="Text 16"/>
          <p:cNvSpPr/>
          <p:nvPr/>
        </p:nvSpPr>
        <p:spPr>
          <a:xfrm>
            <a:off x="9772352" y="1476375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 Services</a:t>
            </a:r>
            <a:endParaRPr lang="en-US" sz="1500" dirty="0"/>
          </a:p>
        </p:txBody>
      </p:sp>
      <p:sp>
        <p:nvSpPr>
          <p:cNvPr id="65" name="Text 17"/>
          <p:cNvSpPr/>
          <p:nvPr/>
        </p:nvSpPr>
        <p:spPr>
          <a:xfrm>
            <a:off x="9219902" y="1962150"/>
            <a:ext cx="2552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Gemini API</a:t>
            </a:r>
            <a:endParaRPr lang="en-US" sz="1200" dirty="0"/>
          </a:p>
        </p:txBody>
      </p:sp>
      <p:sp>
        <p:nvSpPr>
          <p:cNvPr id="66" name="Text 18"/>
          <p:cNvSpPr/>
          <p:nvPr/>
        </p:nvSpPr>
        <p:spPr>
          <a:xfrm>
            <a:off x="9238952" y="2266950"/>
            <a:ext cx="2552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Vision API</a:t>
            </a:r>
            <a:endParaRPr lang="en-US" sz="1200" dirty="0"/>
          </a:p>
        </p:txBody>
      </p:sp>
      <p:sp>
        <p:nvSpPr>
          <p:cNvPr id="67" name="Text 19"/>
          <p:cNvSpPr/>
          <p:nvPr/>
        </p:nvSpPr>
        <p:spPr>
          <a:xfrm>
            <a:off x="9238952" y="2571750"/>
            <a:ext cx="2552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Embeddings</a:t>
            </a:r>
            <a:endParaRPr lang="en-US" sz="1200" dirty="0"/>
          </a:p>
        </p:txBody>
      </p:sp>
      <p:sp>
        <p:nvSpPr>
          <p:cNvPr id="68" name="Text 20"/>
          <p:cNvSpPr/>
          <p:nvPr/>
        </p:nvSpPr>
        <p:spPr>
          <a:xfrm>
            <a:off x="9181802" y="2876550"/>
            <a:ext cx="3063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Recipe Generation</a:t>
            </a:r>
            <a:endParaRPr lang="en-US" sz="1200" dirty="0"/>
          </a:p>
        </p:txBody>
      </p:sp>
      <p:sp>
        <p:nvSpPr>
          <p:cNvPr id="69" name="Text 21"/>
          <p:cNvSpPr/>
          <p:nvPr/>
        </p:nvSpPr>
        <p:spPr>
          <a:xfrm>
            <a:off x="647700" y="52578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E40A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Frontend 세부 구조</a:t>
            </a:r>
            <a:endParaRPr lang="en-US" sz="1350" dirty="0"/>
          </a:p>
        </p:txBody>
      </p:sp>
      <p:sp>
        <p:nvSpPr>
          <p:cNvPr id="70" name="Text 22"/>
          <p:cNvSpPr/>
          <p:nvPr/>
        </p:nvSpPr>
        <p:spPr>
          <a:xfrm>
            <a:off x="876300" y="56007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screens/</a:t>
            </a:r>
            <a:endParaRPr lang="en-US" sz="1200" dirty="0"/>
          </a:p>
        </p:txBody>
      </p:sp>
      <p:sp>
        <p:nvSpPr>
          <p:cNvPr id="71" name="Text 23"/>
          <p:cNvSpPr/>
          <p:nvPr/>
        </p:nvSpPr>
        <p:spPr>
          <a:xfrm>
            <a:off x="3448050" y="56007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components/</a:t>
            </a:r>
            <a:endParaRPr lang="en-US" sz="1200" dirty="0"/>
          </a:p>
        </p:txBody>
      </p:sp>
      <p:sp>
        <p:nvSpPr>
          <p:cNvPr id="72" name="Text 24"/>
          <p:cNvSpPr/>
          <p:nvPr/>
        </p:nvSpPr>
        <p:spPr>
          <a:xfrm>
            <a:off x="876300" y="59055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features/</a:t>
            </a:r>
            <a:endParaRPr lang="en-US" sz="1200" dirty="0"/>
          </a:p>
        </p:txBody>
      </p:sp>
      <p:sp>
        <p:nvSpPr>
          <p:cNvPr id="73" name="Text 25"/>
          <p:cNvSpPr/>
          <p:nvPr/>
        </p:nvSpPr>
        <p:spPr>
          <a:xfrm>
            <a:off x="3448050" y="59055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api/</a:t>
            </a:r>
            <a:endParaRPr lang="en-US" sz="1200" dirty="0"/>
          </a:p>
        </p:txBody>
      </p:sp>
      <p:sp>
        <p:nvSpPr>
          <p:cNvPr id="74" name="Text 26"/>
          <p:cNvSpPr/>
          <p:nvPr/>
        </p:nvSpPr>
        <p:spPr>
          <a:xfrm>
            <a:off x="6400800" y="52578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6653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Backend 세부 구조</a:t>
            </a:r>
            <a:endParaRPr lang="en-US" sz="1350" dirty="0"/>
          </a:p>
        </p:txBody>
      </p:sp>
      <p:sp>
        <p:nvSpPr>
          <p:cNvPr id="75" name="Text 27"/>
          <p:cNvSpPr/>
          <p:nvPr/>
        </p:nvSpPr>
        <p:spPr>
          <a:xfrm>
            <a:off x="6648450" y="56007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routes/</a:t>
            </a:r>
            <a:endParaRPr lang="en-US" sz="1200" dirty="0"/>
          </a:p>
        </p:txBody>
      </p:sp>
      <p:sp>
        <p:nvSpPr>
          <p:cNvPr id="76" name="Text 28"/>
          <p:cNvSpPr/>
          <p:nvPr/>
        </p:nvSpPr>
        <p:spPr>
          <a:xfrm>
            <a:off x="9220200" y="56007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services/</a:t>
            </a:r>
            <a:endParaRPr lang="en-US" sz="1200" dirty="0"/>
          </a:p>
        </p:txBody>
      </p:sp>
      <p:sp>
        <p:nvSpPr>
          <p:cNvPr id="77" name="Text 29"/>
          <p:cNvSpPr/>
          <p:nvPr/>
        </p:nvSpPr>
        <p:spPr>
          <a:xfrm>
            <a:off x="6648450" y="59055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ai_clients/</a:t>
            </a:r>
            <a:endParaRPr lang="en-US" sz="1200" dirty="0"/>
          </a:p>
        </p:txBody>
      </p:sp>
      <p:sp>
        <p:nvSpPr>
          <p:cNvPr id="78" name="Text 30"/>
          <p:cNvSpPr/>
          <p:nvPr/>
        </p:nvSpPr>
        <p:spPr>
          <a:xfrm>
            <a:off x="9220200" y="5905500"/>
            <a:ext cx="2571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db/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524000"/>
            <a:ext cx="3606701" cy="2857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" y="1714500"/>
            <a:ext cx="381000" cy="38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" y="177165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2781300"/>
            <a:ext cx="3225701" cy="419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524000"/>
            <a:ext cx="3606850" cy="28575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3001" y="171450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8251" y="1771650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3001" y="3009900"/>
            <a:ext cx="322585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001" y="3695700"/>
            <a:ext cx="1574750" cy="381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33951" y="3695700"/>
            <a:ext cx="1574750" cy="381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7950" y="1524000"/>
            <a:ext cx="3606701" cy="2857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18450" y="1714500"/>
            <a:ext cx="381000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23225" y="1771650"/>
            <a:ext cx="171450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18450" y="2781300"/>
            <a:ext cx="3225701" cy="647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18450" y="3543300"/>
            <a:ext cx="3225701" cy="647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7200" y="4533900"/>
            <a:ext cx="5524500" cy="1828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" y="4724400"/>
            <a:ext cx="381000" cy="381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8663" y="4781550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700" y="6010275"/>
            <a:ext cx="133350" cy="1333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62300" y="5219700"/>
            <a:ext cx="2628900" cy="952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276600" y="5334000"/>
            <a:ext cx="304800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24350" y="5334000"/>
            <a:ext cx="304800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372100" y="5334000"/>
            <a:ext cx="304800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10300" y="4533900"/>
            <a:ext cx="5524500" cy="1828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400800" y="4724400"/>
            <a:ext cx="381000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81763" y="4781550"/>
            <a:ext cx="219075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00800" y="6010275"/>
            <a:ext cx="133350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163175" y="5372100"/>
            <a:ext cx="247650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096500" y="5791200"/>
            <a:ext cx="381000" cy="38100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UX/UI 디자인 원칙</a:t>
            </a:r>
            <a:endParaRPr lang="en-US" sz="2700" dirty="0"/>
          </a:p>
        </p:txBody>
      </p:sp>
      <p:sp>
        <p:nvSpPr>
          <p:cNvPr id="35" name="Text 1"/>
          <p:cNvSpPr/>
          <p:nvPr/>
        </p:nvSpPr>
        <p:spPr>
          <a:xfrm>
            <a:off x="457200" y="11049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"따뜻한 집밥(Warm)"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컨셉의 웜톤 디자인은 접근성과 사용 편의성을 극대화합니다.</a:t>
            </a:r>
            <a:endParaRPr lang="en-US" sz="1350" dirty="0"/>
          </a:p>
        </p:txBody>
      </p:sp>
      <p:sp>
        <p:nvSpPr>
          <p:cNvPr id="36" name="Text 2"/>
          <p:cNvSpPr/>
          <p:nvPr/>
        </p:nvSpPr>
        <p:spPr>
          <a:xfrm>
            <a:off x="1143000" y="1771650"/>
            <a:ext cx="1085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미니멀리즘</a:t>
            </a:r>
            <a:endParaRPr lang="en-US" sz="1500" dirty="0"/>
          </a:p>
        </p:txBody>
      </p:sp>
      <p:sp>
        <p:nvSpPr>
          <p:cNvPr id="37" name="Text 3"/>
          <p:cNvSpPr/>
          <p:nvPr/>
        </p:nvSpPr>
        <p:spPr>
          <a:xfrm>
            <a:off x="647700" y="2209800"/>
            <a:ext cx="32257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부드러운 라운드 코너와 은은한 그림자 효과로, 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간결하고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따뜻한 디자인을 유지합니다.</a:t>
            </a:r>
            <a:endParaRPr lang="en-US" sz="1200" dirty="0"/>
          </a:p>
        </p:txBody>
      </p:sp>
      <p:sp>
        <p:nvSpPr>
          <p:cNvPr id="38" name="Text 4"/>
          <p:cNvSpPr/>
          <p:nvPr/>
        </p:nvSpPr>
        <p:spPr>
          <a:xfrm>
            <a:off x="762000" y="2895600"/>
            <a:ext cx="914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UI Elements</a:t>
            </a:r>
            <a:endParaRPr lang="en-US" sz="1050" dirty="0"/>
          </a:p>
        </p:txBody>
      </p:sp>
      <p:sp>
        <p:nvSpPr>
          <p:cNvPr id="39" name="Text 5"/>
          <p:cNvSpPr/>
          <p:nvPr/>
        </p:nvSpPr>
        <p:spPr>
          <a:xfrm>
            <a:off x="2854226" y="2895600"/>
            <a:ext cx="10858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간결하고 직관적</a:t>
            </a:r>
            <a:endParaRPr lang="en-US" sz="1050" dirty="0"/>
          </a:p>
        </p:txBody>
      </p:sp>
      <p:sp>
        <p:nvSpPr>
          <p:cNvPr id="40" name="Text 6"/>
          <p:cNvSpPr/>
          <p:nvPr/>
        </p:nvSpPr>
        <p:spPr>
          <a:xfrm>
            <a:off x="4978301" y="1771650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컬러 팔레트</a:t>
            </a:r>
            <a:endParaRPr lang="en-US" sz="1500" dirty="0"/>
          </a:p>
        </p:txBody>
      </p:sp>
      <p:sp>
        <p:nvSpPr>
          <p:cNvPr id="41" name="Text 7"/>
          <p:cNvSpPr/>
          <p:nvPr/>
        </p:nvSpPr>
        <p:spPr>
          <a:xfrm>
            <a:off x="4483001" y="2209800"/>
            <a:ext cx="32258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느낌을 주는 색상들을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조합하여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사용자에게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편안한 경험을 제공합니다.</a:t>
            </a:r>
            <a:endParaRPr lang="en-US" sz="1200" dirty="0"/>
          </a:p>
        </p:txBody>
      </p:sp>
      <p:sp>
        <p:nvSpPr>
          <p:cNvPr id="42" name="Text 8"/>
          <p:cNvSpPr/>
          <p:nvPr/>
        </p:nvSpPr>
        <p:spPr>
          <a:xfrm>
            <a:off x="4483001" y="2781300"/>
            <a:ext cx="6400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메인 배경</a:t>
            </a:r>
            <a:endParaRPr lang="en-US" sz="1050" dirty="0"/>
          </a:p>
        </p:txBody>
      </p:sp>
      <p:sp>
        <p:nvSpPr>
          <p:cNvPr id="43" name="Text 9"/>
          <p:cNvSpPr/>
          <p:nvPr/>
        </p:nvSpPr>
        <p:spPr>
          <a:xfrm>
            <a:off x="6908750" y="2781300"/>
            <a:ext cx="9601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아이보리/크림</a:t>
            </a:r>
            <a:endParaRPr lang="en-US" sz="1050" dirty="0"/>
          </a:p>
        </p:txBody>
      </p:sp>
      <p:sp>
        <p:nvSpPr>
          <p:cNvPr id="44" name="Text 10"/>
          <p:cNvSpPr/>
          <p:nvPr/>
        </p:nvSpPr>
        <p:spPr>
          <a:xfrm>
            <a:off x="4483001" y="3467100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포인트 컬러</a:t>
            </a:r>
            <a:endParaRPr lang="en-US" sz="1050" dirty="0"/>
          </a:p>
        </p:txBody>
      </p:sp>
      <p:sp>
        <p:nvSpPr>
          <p:cNvPr id="45" name="Text 11"/>
          <p:cNvSpPr/>
          <p:nvPr/>
        </p:nvSpPr>
        <p:spPr>
          <a:xfrm>
            <a:off x="6661100" y="3467100"/>
            <a:ext cx="1257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테라코타/머스타드</a:t>
            </a:r>
            <a:endParaRPr lang="en-US" sz="1050" dirty="0"/>
          </a:p>
        </p:txBody>
      </p:sp>
      <p:sp>
        <p:nvSpPr>
          <p:cNvPr id="46" name="Text 12"/>
          <p:cNvSpPr/>
          <p:nvPr/>
        </p:nvSpPr>
        <p:spPr>
          <a:xfrm>
            <a:off x="8813750" y="1771650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타이포그래피</a:t>
            </a:r>
            <a:endParaRPr lang="en-US" sz="1500" dirty="0"/>
          </a:p>
        </p:txBody>
      </p:sp>
      <p:sp>
        <p:nvSpPr>
          <p:cNvPr id="47" name="Text 13"/>
          <p:cNvSpPr/>
          <p:nvPr/>
        </p:nvSpPr>
        <p:spPr>
          <a:xfrm>
            <a:off x="8318450" y="2209800"/>
            <a:ext cx="32257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높이기 위해 따뜻한 폰트를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선택하고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적절한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간격을 설정합니다.</a:t>
            </a:r>
            <a:endParaRPr lang="en-US" sz="1200" dirty="0"/>
          </a:p>
        </p:txBody>
      </p:sp>
      <p:sp>
        <p:nvSpPr>
          <p:cNvPr id="48" name="Text 14"/>
          <p:cNvSpPr/>
          <p:nvPr/>
        </p:nvSpPr>
        <p:spPr>
          <a:xfrm>
            <a:off x="8432750" y="2895600"/>
            <a:ext cx="2997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명조/세리프 계열</a:t>
            </a:r>
            <a:endParaRPr lang="en-US" sz="1200" dirty="0"/>
          </a:p>
        </p:txBody>
      </p:sp>
      <p:sp>
        <p:nvSpPr>
          <p:cNvPr id="49" name="Text 15"/>
          <p:cNvSpPr/>
          <p:nvPr/>
        </p:nvSpPr>
        <p:spPr>
          <a:xfrm>
            <a:off x="8432750" y="3124200"/>
            <a:ext cx="299710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제목에 사용</a:t>
            </a:r>
            <a:endParaRPr lang="en-US" sz="1050" dirty="0"/>
          </a:p>
        </p:txBody>
      </p:sp>
      <p:sp>
        <p:nvSpPr>
          <p:cNvPr id="50" name="Text 16"/>
          <p:cNvSpPr/>
          <p:nvPr/>
        </p:nvSpPr>
        <p:spPr>
          <a:xfrm>
            <a:off x="8432750" y="3657600"/>
            <a:ext cx="2997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산세리프 계열</a:t>
            </a:r>
            <a:endParaRPr lang="en-US" sz="1200" dirty="0"/>
          </a:p>
        </p:txBody>
      </p:sp>
      <p:sp>
        <p:nvSpPr>
          <p:cNvPr id="51" name="Text 17"/>
          <p:cNvSpPr/>
          <p:nvPr/>
        </p:nvSpPr>
        <p:spPr>
          <a:xfrm>
            <a:off x="8432750" y="3886200"/>
            <a:ext cx="299710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사용</a:t>
            </a:r>
            <a:endParaRPr lang="en-US" sz="1050" dirty="0"/>
          </a:p>
        </p:txBody>
      </p:sp>
      <p:sp>
        <p:nvSpPr>
          <p:cNvPr id="52" name="Text 18"/>
          <p:cNvSpPr/>
          <p:nvPr/>
        </p:nvSpPr>
        <p:spPr>
          <a:xfrm>
            <a:off x="1143000" y="4781550"/>
            <a:ext cx="6515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가독성</a:t>
            </a:r>
            <a:endParaRPr lang="en-US" sz="1500" dirty="0"/>
          </a:p>
        </p:txBody>
      </p:sp>
      <p:sp>
        <p:nvSpPr>
          <p:cNvPr id="53" name="Text 19"/>
          <p:cNvSpPr/>
          <p:nvPr/>
        </p:nvSpPr>
        <p:spPr>
          <a:xfrm>
            <a:off x="647700" y="5219700"/>
            <a:ext cx="24003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퍼즐 그리드와 단서 목록을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분리하여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자연스럽고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편안한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돕습니다.</a:t>
            </a:r>
            <a:endParaRPr lang="en-US" sz="1200" dirty="0"/>
          </a:p>
        </p:txBody>
      </p:sp>
      <p:sp>
        <p:nvSpPr>
          <p:cNvPr id="54" name="Text 20"/>
          <p:cNvSpPr/>
          <p:nvPr/>
        </p:nvSpPr>
        <p:spPr>
          <a:xfrm>
            <a:off x="857250" y="5981700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대비율</a:t>
            </a:r>
            <a:endParaRPr lang="en-US" sz="1050" dirty="0"/>
          </a:p>
        </p:txBody>
      </p:sp>
      <p:sp>
        <p:nvSpPr>
          <p:cNvPr id="55" name="Text 21"/>
          <p:cNvSpPr/>
          <p:nvPr/>
        </p:nvSpPr>
        <p:spPr>
          <a:xfrm>
            <a:off x="3276600" y="5715000"/>
            <a:ext cx="24003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계층 구조</a:t>
            </a:r>
            <a:endParaRPr lang="en-US" sz="900" dirty="0"/>
          </a:p>
        </p:txBody>
      </p:sp>
      <p:sp>
        <p:nvSpPr>
          <p:cNvPr id="56" name="Text 22"/>
          <p:cNvSpPr/>
          <p:nvPr/>
        </p:nvSpPr>
        <p:spPr>
          <a:xfrm>
            <a:off x="6896100" y="4781550"/>
            <a:ext cx="16573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방해 요소 최소화</a:t>
            </a:r>
            <a:endParaRPr lang="en-US" sz="1500" dirty="0"/>
          </a:p>
        </p:txBody>
      </p:sp>
      <p:sp>
        <p:nvSpPr>
          <p:cNvPr id="57" name="Text 23"/>
          <p:cNvSpPr/>
          <p:nvPr/>
        </p:nvSpPr>
        <p:spPr>
          <a:xfrm>
            <a:off x="6400800" y="5219700"/>
            <a:ext cx="2514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 추가 시 '미니멀 차임(Chime)’ 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소리만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사용하며, 로딩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스피너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외에는</a:t>
            </a:r>
            <a:b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애니메이션을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사용하지 않습니다.</a:t>
            </a:r>
            <a:endParaRPr lang="en-US" sz="1200" dirty="0"/>
          </a:p>
        </p:txBody>
      </p:sp>
      <p:sp>
        <p:nvSpPr>
          <p:cNvPr id="58" name="Text 24"/>
          <p:cNvSpPr/>
          <p:nvPr/>
        </p:nvSpPr>
        <p:spPr>
          <a:xfrm>
            <a:off x="6610350" y="5981700"/>
            <a:ext cx="12801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심리적 안정감 제공</a:t>
            </a:r>
            <a:endParaRPr lang="en-US" sz="1050" dirty="0"/>
          </a:p>
        </p:txBody>
      </p:sp>
      <p:sp>
        <p:nvSpPr>
          <p:cNvPr id="59" name="Text 25"/>
          <p:cNvSpPr/>
          <p:nvPr/>
        </p:nvSpPr>
        <p:spPr>
          <a:xfrm>
            <a:off x="10129838" y="5867400"/>
            <a:ext cx="3771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600200"/>
            <a:ext cx="3555950" cy="4800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828800"/>
            <a:ext cx="7620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488" y="2019300"/>
            <a:ext cx="428625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204121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737521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270921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5753100"/>
            <a:ext cx="3098750" cy="4191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" y="5905500"/>
            <a:ext cx="104775" cy="1333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17950" y="1600200"/>
            <a:ext cx="3555950" cy="4800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46550" y="1828800"/>
            <a:ext cx="762000" cy="762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32288" y="2019300"/>
            <a:ext cx="390525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6550" y="3204121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6550" y="3737521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6550" y="4042321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46550" y="5753100"/>
            <a:ext cx="3098750" cy="4191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60850" y="5905500"/>
            <a:ext cx="104775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78701" y="1600200"/>
            <a:ext cx="3556099" cy="48006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07301" y="1828800"/>
            <a:ext cx="762000" cy="7620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93038" y="2019300"/>
            <a:ext cx="390525" cy="381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301" y="3204121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301" y="3737521"/>
            <a:ext cx="1524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301" y="4042321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1126" y="5900242"/>
            <a:ext cx="104775" cy="13335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854D0E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향후 확장 계획</a:t>
            </a:r>
            <a:endParaRPr lang="en-US" sz="2700" dirty="0"/>
          </a:p>
        </p:txBody>
      </p:sp>
      <p:sp>
        <p:nvSpPr>
          <p:cNvPr id="30" name="Text 1"/>
          <p:cNvSpPr/>
          <p:nvPr/>
        </p:nvSpPr>
        <p:spPr>
          <a:xfrm>
            <a:off x="457200" y="11811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FridgeChef는 기본 앱 기능 외에도 아래의 전략들을 통해 지속 가능한 비즈니스 모델로 성장할 계획입니다.</a:t>
            </a:r>
            <a:endParaRPr lang="en-US" sz="1350" dirty="0"/>
          </a:p>
        </p:txBody>
      </p:sp>
      <p:sp>
        <p:nvSpPr>
          <p:cNvPr id="31" name="Text 2"/>
          <p:cNvSpPr/>
          <p:nvPr/>
        </p:nvSpPr>
        <p:spPr>
          <a:xfrm>
            <a:off x="1600200" y="2057400"/>
            <a:ext cx="22631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커뮤니티 후기 공유</a:t>
            </a:r>
            <a:endParaRPr lang="en-US" sz="1800" dirty="0"/>
          </a:p>
        </p:txBody>
      </p:sp>
      <p:sp>
        <p:nvSpPr>
          <p:cNvPr id="32" name="Text 3"/>
          <p:cNvSpPr/>
          <p:nvPr/>
        </p:nvSpPr>
        <p:spPr>
          <a:xfrm>
            <a:off x="800100" y="2743200"/>
            <a:ext cx="46863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1D4ED8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P1</a:t>
            </a:r>
            <a:endParaRPr lang="en-US" sz="1020" dirty="0"/>
          </a:p>
        </p:txBody>
      </p:sp>
      <p:sp>
        <p:nvSpPr>
          <p:cNvPr id="33" name="Text 4"/>
          <p:cNvSpPr/>
          <p:nvPr/>
        </p:nvSpPr>
        <p:spPr>
          <a:xfrm>
            <a:off x="1304925" y="2743200"/>
            <a:ext cx="106299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15803D"/>
                </a:solidFill>
                <a:highlight>
                  <a:srgbClr val="DCFCE7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확장</a:t>
            </a:r>
            <a:endParaRPr lang="en-US" sz="1020" dirty="0"/>
          </a:p>
        </p:txBody>
      </p:sp>
      <p:sp>
        <p:nvSpPr>
          <p:cNvPr id="34" name="Text 5"/>
          <p:cNvSpPr/>
          <p:nvPr/>
        </p:nvSpPr>
        <p:spPr>
          <a:xfrm>
            <a:off x="914400" y="3166021"/>
            <a:ext cx="28701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만든 요리의 완성 사진, 별점,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커뮤니티에 공유</a:t>
            </a:r>
            <a:endParaRPr lang="en-US" sz="1200" dirty="0"/>
          </a:p>
        </p:txBody>
      </p:sp>
      <p:sp>
        <p:nvSpPr>
          <p:cNvPr id="35" name="Text 6"/>
          <p:cNvSpPr/>
          <p:nvPr/>
        </p:nvSpPr>
        <p:spPr>
          <a:xfrm>
            <a:off x="914400" y="3699421"/>
            <a:ext cx="28701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사용자들의 후기 참고하여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선택에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활용</a:t>
            </a:r>
            <a:endParaRPr lang="en-US" sz="1200" dirty="0"/>
          </a:p>
        </p:txBody>
      </p:sp>
      <p:sp>
        <p:nvSpPr>
          <p:cNvPr id="36" name="Text 7"/>
          <p:cNvSpPr/>
          <p:nvPr/>
        </p:nvSpPr>
        <p:spPr>
          <a:xfrm>
            <a:off x="914400" y="4232821"/>
            <a:ext cx="28701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POST /api/recipes/{id}/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후기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작성, GET으로 조회</a:t>
            </a:r>
            <a:endParaRPr lang="en-US" sz="1200" dirty="0"/>
          </a:p>
        </p:txBody>
      </p:sp>
      <p:sp>
        <p:nvSpPr>
          <p:cNvPr id="37" name="Text 8"/>
          <p:cNvSpPr/>
          <p:nvPr/>
        </p:nvSpPr>
        <p:spPr>
          <a:xfrm>
            <a:off x="942975" y="5867400"/>
            <a:ext cx="34441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사용자 간 상호작용을 통해 앱 생태계 형성</a:t>
            </a:r>
            <a:endParaRPr lang="en-US" sz="1050" dirty="0"/>
          </a:p>
        </p:txBody>
      </p:sp>
      <p:sp>
        <p:nvSpPr>
          <p:cNvPr id="38" name="Text 9"/>
          <p:cNvSpPr/>
          <p:nvPr/>
        </p:nvSpPr>
        <p:spPr>
          <a:xfrm>
            <a:off x="5460950" y="2057400"/>
            <a:ext cx="20345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제휴/커머스 연동</a:t>
            </a:r>
            <a:endParaRPr lang="en-US" sz="1800" dirty="0"/>
          </a:p>
        </p:txBody>
      </p:sp>
      <p:sp>
        <p:nvSpPr>
          <p:cNvPr id="39" name="Text 10"/>
          <p:cNvSpPr/>
          <p:nvPr/>
        </p:nvSpPr>
        <p:spPr>
          <a:xfrm>
            <a:off x="4660850" y="2743200"/>
            <a:ext cx="46863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7E22CE"/>
                </a:solidFill>
                <a:highlight>
                  <a:srgbClr val="F3E8FF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P1</a:t>
            </a:r>
            <a:endParaRPr lang="en-US" sz="1020" dirty="0"/>
          </a:p>
        </p:txBody>
      </p:sp>
      <p:sp>
        <p:nvSpPr>
          <p:cNvPr id="40" name="Text 11"/>
          <p:cNvSpPr/>
          <p:nvPr/>
        </p:nvSpPr>
        <p:spPr>
          <a:xfrm>
            <a:off x="5165675" y="2743200"/>
            <a:ext cx="121158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A16207"/>
                </a:solidFill>
                <a:highlight>
                  <a:srgbClr val="FEF9C3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수익</a:t>
            </a:r>
            <a:endParaRPr lang="en-US" sz="1020" dirty="0"/>
          </a:p>
        </p:txBody>
      </p:sp>
      <p:sp>
        <p:nvSpPr>
          <p:cNvPr id="41" name="Text 12"/>
          <p:cNvSpPr/>
          <p:nvPr/>
        </p:nvSpPr>
        <p:spPr>
          <a:xfrm>
            <a:off x="4775150" y="3166021"/>
            <a:ext cx="28701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추천 레시피를 선택했으나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부족할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경우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바로 구매</a:t>
            </a:r>
            <a:endParaRPr lang="en-US" sz="1200" dirty="0"/>
          </a:p>
        </p:txBody>
      </p:sp>
      <p:sp>
        <p:nvSpPr>
          <p:cNvPr id="42" name="Text 13"/>
          <p:cNvSpPr/>
          <p:nvPr/>
        </p:nvSpPr>
        <p:spPr>
          <a:xfrm>
            <a:off x="4775150" y="3699421"/>
            <a:ext cx="28460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조회 시 부족한 재료 목록 표시</a:t>
            </a:r>
            <a:endParaRPr lang="en-US" sz="1200" dirty="0"/>
          </a:p>
        </p:txBody>
      </p:sp>
      <p:sp>
        <p:nvSpPr>
          <p:cNvPr id="43" name="Text 14"/>
          <p:cNvSpPr/>
          <p:nvPr/>
        </p:nvSpPr>
        <p:spPr>
          <a:xfrm>
            <a:off x="4775150" y="4004221"/>
            <a:ext cx="28701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제휴 식재료 유통사의 외부 커머스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URL로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</a:t>
            </a:r>
            <a:endParaRPr lang="en-US" sz="1200" dirty="0"/>
          </a:p>
        </p:txBody>
      </p:sp>
      <p:sp>
        <p:nvSpPr>
          <p:cNvPr id="44" name="Text 15"/>
          <p:cNvSpPr/>
          <p:nvPr/>
        </p:nvSpPr>
        <p:spPr>
          <a:xfrm>
            <a:off x="4803725" y="5867400"/>
            <a:ext cx="34441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비즈니스 측면의 추가 수익원 확보 기능</a:t>
            </a:r>
            <a:endParaRPr lang="en-US" sz="1050" dirty="0"/>
          </a:p>
        </p:txBody>
      </p:sp>
      <p:sp>
        <p:nvSpPr>
          <p:cNvPr id="45" name="Text 16"/>
          <p:cNvSpPr/>
          <p:nvPr/>
        </p:nvSpPr>
        <p:spPr>
          <a:xfrm>
            <a:off x="9321701" y="2057400"/>
            <a:ext cx="22631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713F12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프리미엄 구독 모델</a:t>
            </a:r>
            <a:endParaRPr lang="en-US" sz="1800" dirty="0"/>
          </a:p>
        </p:txBody>
      </p:sp>
      <p:sp>
        <p:nvSpPr>
          <p:cNvPr id="46" name="Text 17"/>
          <p:cNvSpPr/>
          <p:nvPr/>
        </p:nvSpPr>
        <p:spPr>
          <a:xfrm>
            <a:off x="8521601" y="2743200"/>
            <a:ext cx="105156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B91C1C"/>
                </a:solidFill>
                <a:highlight>
                  <a:srgbClr val="FEE2E2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Freemium</a:t>
            </a:r>
            <a:endParaRPr lang="en-US" sz="1020" dirty="0"/>
          </a:p>
        </p:txBody>
      </p:sp>
      <p:sp>
        <p:nvSpPr>
          <p:cNvPr id="47" name="Text 18"/>
          <p:cNvSpPr/>
          <p:nvPr/>
        </p:nvSpPr>
        <p:spPr>
          <a:xfrm>
            <a:off x="9512201" y="2743200"/>
            <a:ext cx="121158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15803D"/>
                </a:solidFill>
                <a:highlight>
                  <a:srgbClr val="DCFCE7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수익</a:t>
            </a:r>
            <a:endParaRPr lang="en-US" sz="1020" dirty="0"/>
          </a:p>
        </p:txBody>
      </p:sp>
      <p:sp>
        <p:nvSpPr>
          <p:cNvPr id="48" name="Text 19"/>
          <p:cNvSpPr/>
          <p:nvPr/>
        </p:nvSpPr>
        <p:spPr>
          <a:xfrm>
            <a:off x="8635901" y="3166021"/>
            <a:ext cx="2870299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 없는 환경, 무제한 AI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쿠킹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어시스턴트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</a:t>
            </a:r>
            <a:endParaRPr lang="en-US" sz="1200" dirty="0"/>
          </a:p>
        </p:txBody>
      </p:sp>
      <p:sp>
        <p:nvSpPr>
          <p:cNvPr id="49" name="Text 20"/>
          <p:cNvSpPr/>
          <p:nvPr/>
        </p:nvSpPr>
        <p:spPr>
          <a:xfrm>
            <a:off x="8635901" y="3699421"/>
            <a:ext cx="31546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고급/특정 목표(예: 미슐랭급) 레시피 접근</a:t>
            </a:r>
            <a:endParaRPr lang="en-US" sz="1200" dirty="0"/>
          </a:p>
        </p:txBody>
      </p:sp>
      <p:sp>
        <p:nvSpPr>
          <p:cNvPr id="50" name="Text 21"/>
          <p:cNvSpPr/>
          <p:nvPr/>
        </p:nvSpPr>
        <p:spPr>
          <a:xfrm>
            <a:off x="8635901" y="4004221"/>
            <a:ext cx="2870299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음식 조리 시 AI에게 음성으로 물어볼 수 있는 기능</a:t>
            </a:r>
            <a:endParaRPr lang="en-US" sz="1200" dirty="0"/>
          </a:p>
        </p:txBody>
      </p:sp>
      <p:sp>
        <p:nvSpPr>
          <p:cNvPr id="51" name="Text 22"/>
          <p:cNvSpPr/>
          <p:nvPr/>
        </p:nvSpPr>
        <p:spPr>
          <a:xfrm>
            <a:off x="8674001" y="5862142"/>
            <a:ext cx="2870299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기능을 구독 시 잠금 해제하는 Freesium 모델</a:t>
            </a:r>
            <a:endParaRPr lang="en-US" sz="1050" dirty="0"/>
          </a:p>
        </p:txBody>
      </p:sp>
      <p:pic>
        <p:nvPicPr>
          <p:cNvPr id="52" name="Image 17" descr="preencoded.png">
            <a:extLst>
              <a:ext uri="{FF2B5EF4-FFF2-40B4-BE49-F238E27FC236}">
                <a16:creationId xmlns:a16="http://schemas.microsoft.com/office/drawing/2014/main" id="{10090B1E-5CE6-46A3-AA75-CC65A929212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28841" y="5734050"/>
            <a:ext cx="3098750" cy="419100"/>
          </a:xfrm>
          <a:prstGeom prst="rect">
            <a:avLst/>
          </a:prstGeom>
        </p:spPr>
      </p:pic>
      <p:pic>
        <p:nvPicPr>
          <p:cNvPr id="53" name="Image 26" descr="preencoded.png">
            <a:extLst>
              <a:ext uri="{FF2B5EF4-FFF2-40B4-BE49-F238E27FC236}">
                <a16:creationId xmlns:a16="http://schemas.microsoft.com/office/drawing/2014/main" id="{FC77CA1B-0A17-484F-AC4A-A18F5EFF31E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13445" y="5878563"/>
            <a:ext cx="104775" cy="133350"/>
          </a:xfrm>
          <a:prstGeom prst="rect">
            <a:avLst/>
          </a:prstGeom>
        </p:spPr>
      </p:pic>
      <p:sp>
        <p:nvSpPr>
          <p:cNvPr id="54" name="Text 22">
            <a:extLst>
              <a:ext uri="{FF2B5EF4-FFF2-40B4-BE49-F238E27FC236}">
                <a16:creationId xmlns:a16="http://schemas.microsoft.com/office/drawing/2014/main" id="{A915FDCB-F73A-491B-8B58-3961CDD5B720}"/>
              </a:ext>
            </a:extLst>
          </p:cNvPr>
          <p:cNvSpPr/>
          <p:nvPr/>
        </p:nvSpPr>
        <p:spPr>
          <a:xfrm>
            <a:off x="8656320" y="5840463"/>
            <a:ext cx="2870299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기능을 구독 시 잠금 해제하는 Freesium 모델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1149</Words>
  <Application>Microsoft Office PowerPoint</Application>
  <PresentationFormat>와이드스크린</PresentationFormat>
  <Paragraphs>193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fkGroteskNeue</vt:lpstr>
      <vt:lpstr>Noto Sans KR</vt:lpstr>
      <vt:lpstr>Noto Serif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102</cp:lastModifiedBy>
  <cp:revision>3</cp:revision>
  <dcterms:created xsi:type="dcterms:W3CDTF">2025-11-27T05:00:06Z</dcterms:created>
  <dcterms:modified xsi:type="dcterms:W3CDTF">2025-11-27T05:11:13Z</dcterms:modified>
</cp:coreProperties>
</file>