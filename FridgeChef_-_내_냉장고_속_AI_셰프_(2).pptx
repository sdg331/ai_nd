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70" r:id="rId13"/>
    <p:sldId id="269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110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5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0C816-B2F9-4B51-4FE9-27B7CC6E3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9C014-2A7B-5C59-A75F-B06128DF2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2D79F-B964-1B66-7EB8-1D3B449AD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1B595-2091-5D73-B57C-182723BBE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6436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375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1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13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1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27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13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27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3" Type="http://schemas.openxmlformats.org/officeDocument/2006/relationships/image" Target="../media/image1.png"/><Relationship Id="rId21" Type="http://schemas.openxmlformats.org/officeDocument/2006/relationships/image" Target="../media/image85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13.pn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27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" Type="http://schemas.openxmlformats.org/officeDocument/2006/relationships/image" Target="../media/image1.png"/><Relationship Id="rId21" Type="http://schemas.openxmlformats.org/officeDocument/2006/relationships/image" Target="../media/image102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24" Type="http://schemas.openxmlformats.org/officeDocument/2006/relationships/image" Target="../media/image105.png"/><Relationship Id="rId5" Type="http://schemas.openxmlformats.org/officeDocument/2006/relationships/image" Target="../media/image13.png"/><Relationship Id="rId15" Type="http://schemas.openxmlformats.org/officeDocument/2006/relationships/image" Target="../media/image96.png"/><Relationship Id="rId23" Type="http://schemas.openxmlformats.org/officeDocument/2006/relationships/image" Target="../media/image104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27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0.png"/><Relationship Id="rId5" Type="http://schemas.openxmlformats.org/officeDocument/2006/relationships/image" Target="../media/image13.png"/><Relationship Id="rId10" Type="http://schemas.openxmlformats.org/officeDocument/2006/relationships/image" Target="../media/image109.png"/><Relationship Id="rId4" Type="http://schemas.openxmlformats.org/officeDocument/2006/relationships/image" Target="../media/image27.png"/><Relationship Id="rId9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26" Type="http://schemas.openxmlformats.org/officeDocument/2006/relationships/image" Target="../media/image131.png"/><Relationship Id="rId3" Type="http://schemas.openxmlformats.org/officeDocument/2006/relationships/image" Target="../media/image1.png"/><Relationship Id="rId21" Type="http://schemas.openxmlformats.org/officeDocument/2006/relationships/image" Target="../media/image126.png"/><Relationship Id="rId34" Type="http://schemas.openxmlformats.org/officeDocument/2006/relationships/image" Target="../media/image138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5" Type="http://schemas.openxmlformats.org/officeDocument/2006/relationships/image" Target="../media/image130.png"/><Relationship Id="rId33" Type="http://schemas.openxmlformats.org/officeDocument/2006/relationships/image" Target="../media/image13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1.png"/><Relationship Id="rId20" Type="http://schemas.openxmlformats.org/officeDocument/2006/relationships/image" Target="../media/image125.png"/><Relationship Id="rId29" Type="http://schemas.openxmlformats.org/officeDocument/2006/relationships/image" Target="../media/image1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24" Type="http://schemas.openxmlformats.org/officeDocument/2006/relationships/image" Target="../media/image129.png"/><Relationship Id="rId32" Type="http://schemas.openxmlformats.org/officeDocument/2006/relationships/image" Target="../media/image136.png"/><Relationship Id="rId5" Type="http://schemas.openxmlformats.org/officeDocument/2006/relationships/image" Target="../media/image13.png"/><Relationship Id="rId15" Type="http://schemas.openxmlformats.org/officeDocument/2006/relationships/image" Target="../media/image120.png"/><Relationship Id="rId23" Type="http://schemas.openxmlformats.org/officeDocument/2006/relationships/image" Target="../media/image128.png"/><Relationship Id="rId28" Type="http://schemas.openxmlformats.org/officeDocument/2006/relationships/image" Target="../media/image133.png"/><Relationship Id="rId10" Type="http://schemas.openxmlformats.org/officeDocument/2006/relationships/image" Target="../media/image115.png"/><Relationship Id="rId19" Type="http://schemas.openxmlformats.org/officeDocument/2006/relationships/image" Target="../media/image124.png"/><Relationship Id="rId31" Type="http://schemas.openxmlformats.org/officeDocument/2006/relationships/image" Target="../media/image135.png"/><Relationship Id="rId4" Type="http://schemas.openxmlformats.org/officeDocument/2006/relationships/image" Target="../media/image27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Relationship Id="rId22" Type="http://schemas.openxmlformats.org/officeDocument/2006/relationships/image" Target="../media/image127.png"/><Relationship Id="rId27" Type="http://schemas.openxmlformats.org/officeDocument/2006/relationships/image" Target="../media/image132.png"/><Relationship Id="rId30" Type="http://schemas.openxmlformats.org/officeDocument/2006/relationships/image" Target="../media/image7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26" Type="http://schemas.openxmlformats.org/officeDocument/2006/relationships/image" Target="../media/image159.png"/><Relationship Id="rId3" Type="http://schemas.openxmlformats.org/officeDocument/2006/relationships/image" Target="../media/image1.png"/><Relationship Id="rId21" Type="http://schemas.openxmlformats.org/officeDocument/2006/relationships/image" Target="../media/image154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5" Type="http://schemas.openxmlformats.org/officeDocument/2006/relationships/image" Target="../media/image15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29" Type="http://schemas.openxmlformats.org/officeDocument/2006/relationships/image" Target="../media/image1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24" Type="http://schemas.openxmlformats.org/officeDocument/2006/relationships/image" Target="../media/image157.png"/><Relationship Id="rId5" Type="http://schemas.openxmlformats.org/officeDocument/2006/relationships/image" Target="../media/image13.png"/><Relationship Id="rId15" Type="http://schemas.openxmlformats.org/officeDocument/2006/relationships/image" Target="../media/image148.png"/><Relationship Id="rId23" Type="http://schemas.openxmlformats.org/officeDocument/2006/relationships/image" Target="../media/image156.png"/><Relationship Id="rId28" Type="http://schemas.openxmlformats.org/officeDocument/2006/relationships/image" Target="../media/image161.png"/><Relationship Id="rId10" Type="http://schemas.openxmlformats.org/officeDocument/2006/relationships/image" Target="../media/image143.png"/><Relationship Id="rId19" Type="http://schemas.openxmlformats.org/officeDocument/2006/relationships/image" Target="../media/image152.png"/><Relationship Id="rId4" Type="http://schemas.openxmlformats.org/officeDocument/2006/relationships/image" Target="../media/image27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Relationship Id="rId22" Type="http://schemas.openxmlformats.org/officeDocument/2006/relationships/image" Target="../media/image155.png"/><Relationship Id="rId27" Type="http://schemas.openxmlformats.org/officeDocument/2006/relationships/image" Target="../media/image160.png"/><Relationship Id="rId30" Type="http://schemas.openxmlformats.org/officeDocument/2006/relationships/image" Target="../media/image16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69.png"/><Relationship Id="rId3" Type="http://schemas.openxmlformats.org/officeDocument/2006/relationships/image" Target="../media/image1.png"/><Relationship Id="rId7" Type="http://schemas.openxmlformats.org/officeDocument/2006/relationships/image" Target="../media/image165.png"/><Relationship Id="rId12" Type="http://schemas.openxmlformats.org/officeDocument/2006/relationships/image" Target="../media/image16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4.png"/><Relationship Id="rId11" Type="http://schemas.openxmlformats.org/officeDocument/2006/relationships/image" Target="../media/image110.png"/><Relationship Id="rId5" Type="http://schemas.openxmlformats.org/officeDocument/2006/relationships/image" Target="../media/image13.png"/><Relationship Id="rId10" Type="http://schemas.openxmlformats.org/officeDocument/2006/relationships/image" Target="../media/image167.png"/><Relationship Id="rId4" Type="http://schemas.openxmlformats.org/officeDocument/2006/relationships/image" Target="../media/image27.png"/><Relationship Id="rId9" Type="http://schemas.openxmlformats.org/officeDocument/2006/relationships/image" Target="../media/image47.png"/><Relationship Id="rId14" Type="http://schemas.openxmlformats.org/officeDocument/2006/relationships/image" Target="../media/image17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3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4.png"/><Relationship Id="rId5" Type="http://schemas.openxmlformats.org/officeDocument/2006/relationships/image" Target="../media/image13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6250"/>
            <a:ext cx="142875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9500" y="4191000"/>
            <a:ext cx="952500" cy="1905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0750" y="1905000"/>
            <a:ext cx="1428750" cy="1428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0" y="1314450"/>
            <a:ext cx="1714500" cy="1714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2625" y="1790700"/>
            <a:ext cx="66675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15700" y="6362700"/>
            <a:ext cx="114300" cy="114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06200" y="6362700"/>
            <a:ext cx="114300" cy="114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96700" y="6362700"/>
            <a:ext cx="114300" cy="1143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170045" y="3486150"/>
            <a:ext cx="385191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8B4513"/>
                </a:solidFill>
                <a:latin typeface="Noto Serif KR" pitchFamily="34" charset="0"/>
                <a:ea typeface="Noto Serif KR" pitchFamily="34" charset="-122"/>
              </a:rPr>
              <a:t>COOKMATE</a:t>
            </a:r>
            <a:endParaRPr lang="en-US" sz="4500" dirty="0"/>
          </a:p>
        </p:txBody>
      </p:sp>
      <p:sp>
        <p:nvSpPr>
          <p:cNvPr id="13" name="Text 1"/>
          <p:cNvSpPr/>
          <p:nvPr/>
        </p:nvSpPr>
        <p:spPr>
          <a:xfrm>
            <a:off x="4632960" y="4362450"/>
            <a:ext cx="29260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D66F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냉장고 속 AI 셰프</a:t>
            </a:r>
            <a:endParaRPr lang="en-US" sz="2250" dirty="0"/>
          </a:p>
        </p:txBody>
      </p:sp>
      <p:sp>
        <p:nvSpPr>
          <p:cNvPr id="14" name="Text 2"/>
          <p:cNvSpPr/>
          <p:nvPr/>
        </p:nvSpPr>
        <p:spPr>
          <a:xfrm>
            <a:off x="3152775" y="5010150"/>
            <a:ext cx="58864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8B4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인공지능과 멀티모달 분석 기술로, 냉장고 속 재료와 요리 프로필을 기반으로
맞춤형 레시피를 생성하고 요리 과정을 지도해주는 모바일 쿠킹 솔루션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086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90086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538413"/>
            <a:ext cx="3606701" cy="20764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7175" y="2767013"/>
            <a:ext cx="666750" cy="666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7675" y="2928938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2501" y="2538413"/>
            <a:ext cx="3606850" cy="2076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2476" y="2767013"/>
            <a:ext cx="666750" cy="666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14876" y="2928938"/>
            <a:ext cx="3619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7950" y="2538413"/>
            <a:ext cx="3606701" cy="2076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7926" y="2767013"/>
            <a:ext cx="666750" cy="6667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50326" y="2928938"/>
            <a:ext cx="3619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4919663"/>
            <a:ext cx="11277600" cy="1524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5624513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5967413"/>
            <a:ext cx="17145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58200" y="5529263"/>
            <a:ext cx="3048000" cy="685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10600" y="5681663"/>
            <a:ext cx="257175" cy="3810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프로젝트 개요 및 핵심 컨셉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457200" y="1257300"/>
            <a:ext cx="11277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</a:rPr>
              <a:t>COOKMATE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457200" y="1676400"/>
            <a:ext cx="11277600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인공지능(AI)과 멀티모달(이미지+텍스트) 분석 기술을 </a:t>
            </a:r>
            <a:r>
              <a:rPr lang="en-US" sz="13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활용해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b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3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냉장고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속 재료와 나의 요리 프로필을 기반으로 맞춤 레시피를 생성해 주는 모바일 쿠킹 솔루션입니다.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1540460" y="3586163"/>
            <a:ext cx="14401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간편 재료 등록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685800" y="3929063"/>
            <a:ext cx="31495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냉장고 사진/영수증/텍스트로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쉽게</a:t>
            </a:r>
            <a:b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등록하고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관리하세요.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5301466" y="3586163"/>
            <a:ext cx="15887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개인화된 레시피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4521101" y="3929063"/>
            <a:ext cx="3149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선호/비선호 재료, 알레르기,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조리도구를</a:t>
            </a:r>
            <a:b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반영한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맞춤 레시피를 생성합니다.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8965466" y="3586163"/>
            <a:ext cx="19316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쿠킹 어시스턴트</a:t>
            </a:r>
            <a:endParaRPr lang="en-US" sz="1500" dirty="0"/>
          </a:p>
        </p:txBody>
      </p:sp>
      <p:sp>
        <p:nvSpPr>
          <p:cNvPr id="27" name="Text 8"/>
          <p:cNvSpPr/>
          <p:nvPr/>
        </p:nvSpPr>
        <p:spPr>
          <a:xfrm>
            <a:off x="8356550" y="3929063"/>
            <a:ext cx="31495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요리 중 발생하는 돌발 상황을 AI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챗봇이</a:t>
            </a:r>
            <a:b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실시간으로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도와줍니다.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685800" y="5148263"/>
            <a:ext cx="1082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가치</a:t>
            </a:r>
            <a:endParaRPr lang="en-US" sz="1500" dirty="0"/>
          </a:p>
        </p:txBody>
      </p:sp>
      <p:sp>
        <p:nvSpPr>
          <p:cNvPr id="29" name="Text 10"/>
          <p:cNvSpPr/>
          <p:nvPr/>
        </p:nvSpPr>
        <p:spPr>
          <a:xfrm>
            <a:off x="933450" y="5567363"/>
            <a:ext cx="7543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음식물 낭비를 줄이고 재료를 효율적으로 활용할 수 있습니다.</a:t>
            </a:r>
            <a:endParaRPr lang="en-US" sz="1350" dirty="0"/>
          </a:p>
        </p:txBody>
      </p:sp>
      <p:sp>
        <p:nvSpPr>
          <p:cNvPr id="30" name="Text 11"/>
          <p:cNvSpPr/>
          <p:nvPr/>
        </p:nvSpPr>
        <p:spPr>
          <a:xfrm>
            <a:off x="933450" y="5910263"/>
            <a:ext cx="7543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요리 초보자도 쉽게 요리에 성공하여 자신감을 얻을 수 있습니다.</a:t>
            </a:r>
            <a:endParaRPr lang="en-US" sz="1350" dirty="0"/>
          </a:p>
        </p:txBody>
      </p:sp>
      <p:sp>
        <p:nvSpPr>
          <p:cNvPr id="31" name="Text 12"/>
          <p:cNvSpPr/>
          <p:nvPr/>
        </p:nvSpPr>
        <p:spPr>
          <a:xfrm>
            <a:off x="9020175" y="5738813"/>
            <a:ext cx="2800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"내 손안의 AI 셰프 + 요리 코치"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2350" y="1257300"/>
            <a:ext cx="1524000" cy="1524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4300" y="1562100"/>
            <a:ext cx="800100" cy="914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009900"/>
            <a:ext cx="3454301" cy="2286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763" y="3657600"/>
            <a:ext cx="21907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4038600"/>
            <a:ext cx="17145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238" y="4419600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6763" y="4800600"/>
            <a:ext cx="21907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16301" y="1257300"/>
            <a:ext cx="7518350" cy="2362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7500" y="199072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07557" y="2600325"/>
            <a:ext cx="1333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01908" y="3156241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16301" y="3848100"/>
            <a:ext cx="7518350" cy="1943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92526" y="4534025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17235" y="4581525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88359" y="5149559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01905" y="5191125"/>
            <a:ext cx="152400" cy="1524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타겟 페르소나 - 김지금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685800" y="3238500"/>
            <a:ext cx="29971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기본 정보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1181100" y="3676650"/>
            <a:ext cx="960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이름: 김지금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1181100" y="4057650"/>
            <a:ext cx="822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나이: 23세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1181100" y="4438650"/>
            <a:ext cx="960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직업: 대학생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1181100" y="4819650"/>
            <a:ext cx="1394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거주 상황: 자취 중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4444901" y="1485900"/>
            <a:ext cx="70611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현재 상황</a:t>
            </a:r>
            <a:endParaRPr lang="en-US" sz="1800" dirty="0"/>
          </a:p>
        </p:txBody>
      </p:sp>
      <p:sp>
        <p:nvSpPr>
          <p:cNvPr id="28" name="Text 7"/>
          <p:cNvSpPr/>
          <p:nvPr/>
        </p:nvSpPr>
        <p:spPr>
          <a:xfrm>
            <a:off x="4817864" y="1905000"/>
            <a:ext cx="66881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재정 상황: 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주머니 상황이 넉넉하지 않다. 알바 월급이 들어오기 전에 돈을 아끼고자 집에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있는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재료를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통해 음식을 먹으려 한다.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4817864" y="2514600"/>
            <a:ext cx="668818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냉장고 내용물: </a:t>
            </a:r>
            <a:r>
              <a:rPr lang="ko-KR" altLang="en-US" sz="1200" b="0" dirty="0">
                <a:effectLst/>
                <a:latin typeface="fkGroteskNeue"/>
              </a:rPr>
              <a:t>배달음식 이용이 빈번하여 남은 소스류와 음료가 주를 이루고 있으며</a:t>
            </a:r>
            <a:r>
              <a:rPr lang="en-US" altLang="ko-KR" sz="1200" b="0" dirty="0">
                <a:effectLst/>
                <a:latin typeface="fkGroteskNeue"/>
              </a:rPr>
              <a:t>,</a:t>
            </a:r>
            <a:br>
              <a:rPr lang="en-US" altLang="ko-KR" sz="1200" b="0" dirty="0">
                <a:effectLst/>
                <a:latin typeface="fkGroteskNeue"/>
              </a:rPr>
            </a:br>
            <a:r>
              <a:rPr lang="en-US" altLang="ko-KR" sz="1200" b="0" dirty="0">
                <a:effectLst/>
                <a:latin typeface="fkGroteskNeue"/>
              </a:rPr>
              <a:t>                            </a:t>
            </a:r>
            <a:r>
              <a:rPr lang="ko-KR" altLang="en-US" sz="1200" b="0" dirty="0">
                <a:effectLst/>
                <a:latin typeface="fkGroteskNeue"/>
              </a:rPr>
              <a:t>기본 식재료로는 김치</a:t>
            </a:r>
            <a:r>
              <a:rPr lang="en-US" altLang="ko-KR" sz="1200" b="0" dirty="0">
                <a:effectLst/>
                <a:latin typeface="fkGroteskNeue"/>
              </a:rPr>
              <a:t>, </a:t>
            </a:r>
            <a:r>
              <a:rPr lang="ko-KR" altLang="en-US" sz="1200" b="0" dirty="0">
                <a:effectLst/>
                <a:latin typeface="fkGroteskNeue"/>
              </a:rPr>
              <a:t>양파</a:t>
            </a:r>
            <a:r>
              <a:rPr lang="en-US" altLang="ko-KR" sz="1200" b="0" dirty="0">
                <a:effectLst/>
                <a:latin typeface="fkGroteskNeue"/>
              </a:rPr>
              <a:t>, </a:t>
            </a:r>
            <a:r>
              <a:rPr lang="ko-KR" altLang="en-US" sz="1200" b="0" dirty="0">
                <a:effectLst/>
                <a:latin typeface="fkGroteskNeue"/>
              </a:rPr>
              <a:t>삼겹살만 보유 중이다</a:t>
            </a:r>
            <a:r>
              <a:rPr lang="en-US" altLang="ko-KR" sz="1200" b="0" dirty="0">
                <a:effectLst/>
                <a:latin typeface="fkGroteskNeue"/>
              </a:rPr>
              <a:t>.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4817863" y="3124200"/>
            <a:ext cx="759755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요리 경험: 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요리를 잘 할 줄 모르고, 관련된 정보도 많이 없기에 직접 찾아보기에도 어려운 상황이다.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4444901" y="4076700"/>
            <a:ext cx="70611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목표와 필요사항</a:t>
            </a:r>
            <a:endParaRPr lang="en-US" sz="1800" dirty="0"/>
          </a:p>
        </p:txBody>
      </p:sp>
      <p:sp>
        <p:nvSpPr>
          <p:cNvPr id="32" name="Text 11"/>
          <p:cNvSpPr/>
          <p:nvPr/>
        </p:nvSpPr>
        <p:spPr>
          <a:xfrm>
            <a:off x="4702077" y="4495800"/>
            <a:ext cx="319712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식비 절감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냉장고 재료를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효율적으로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활용하여</a:t>
            </a:r>
            <a:b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식비를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줄이고자 한다.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8449568" y="4495800"/>
            <a:ext cx="305648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요리 성공: 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요리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초보자이기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때문에</a:t>
            </a:r>
            <a:endParaRPr lang="en-US" sz="12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요리 경험을 원한다.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4702076" y="5105400"/>
            <a:ext cx="325948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절약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레시피 탐색에 시간을 들이기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싫어하며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간단한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요리 방법을 원한다.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8418909" y="5105400"/>
            <a:ext cx="308714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해결: 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요리 중 발생하는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돌발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상황에</a:t>
            </a:r>
            <a:endParaRPr lang="en-US" sz="12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대처할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 있는 방법이 필요하다.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764506"/>
            <a:ext cx="3606701" cy="2514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9550" y="1955006"/>
            <a:ext cx="7620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9100" y="2145506"/>
            <a:ext cx="3429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3288506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3593306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3898106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2501" y="1764506"/>
            <a:ext cx="3606850" cy="2514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4851" y="1955006"/>
            <a:ext cx="762000" cy="762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7264" y="2145506"/>
            <a:ext cx="257175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3001" y="3288506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3001" y="3593306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3001" y="3898106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7950" y="1764506"/>
            <a:ext cx="3606701" cy="2514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50301" y="1955006"/>
            <a:ext cx="762000" cy="762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36038" y="2145506"/>
            <a:ext cx="390525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8450" y="3288506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8450" y="3593306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8450" y="3898106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4507706"/>
            <a:ext cx="11277600" cy="1257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5231606"/>
            <a:ext cx="219075" cy="1714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81539" y="5222081"/>
            <a:ext cx="133350" cy="17145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기능 1 - 나의 냉장고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457200" y="1257300"/>
            <a:ext cx="13533120" cy="2786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냉장고는 세 가지 방식으로 재료를 등록하고, Vision AI와 OCR 기술로 자동으로 인식하여 간편하고 정확하게 관리할 수 있도록 도와줍니다.</a:t>
            </a:r>
            <a:endParaRPr lang="en-US" sz="1350" dirty="0"/>
          </a:p>
        </p:txBody>
      </p:sp>
      <p:sp>
        <p:nvSpPr>
          <p:cNvPr id="28" name="Text 2"/>
          <p:cNvSpPr/>
          <p:nvPr/>
        </p:nvSpPr>
        <p:spPr>
          <a:xfrm>
            <a:off x="1180415" y="2869406"/>
            <a:ext cx="21602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냉장고 내부 사진 촬영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876300" y="3250406"/>
            <a:ext cx="3143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냉장고 내부 사진을 촬영하여 재료를 인식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876300" y="3555206"/>
            <a:ext cx="29603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이미지에서 재료 자동 추출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876300" y="3860006"/>
            <a:ext cx="25831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인식된 재료 목록을 검토하고 수정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5518636" y="2869406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영수증 스캔</a:t>
            </a:r>
            <a:endParaRPr lang="en-US" sz="1500" dirty="0"/>
          </a:p>
        </p:txBody>
      </p:sp>
      <p:sp>
        <p:nvSpPr>
          <p:cNvPr id="33" name="Text 7"/>
          <p:cNvSpPr/>
          <p:nvPr/>
        </p:nvSpPr>
        <p:spPr>
          <a:xfrm>
            <a:off x="4711601" y="3250406"/>
            <a:ext cx="25831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마트 영수증을 촬영하여 내용 추출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4711601" y="3555206"/>
            <a:ext cx="20916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OCR로 품목 목록 자동 변환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4711601" y="3860006"/>
            <a:ext cx="2628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영수증에 나온 품목을 한 번에 추가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9102626" y="2869406"/>
            <a:ext cx="1657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직접 텍스트 입력</a:t>
            </a:r>
            <a:endParaRPr lang="en-US" sz="1500" dirty="0"/>
          </a:p>
        </p:txBody>
      </p:sp>
      <p:sp>
        <p:nvSpPr>
          <p:cNvPr id="37" name="Text 11"/>
          <p:cNvSpPr/>
          <p:nvPr/>
        </p:nvSpPr>
        <p:spPr>
          <a:xfrm>
            <a:off x="8547050" y="3250406"/>
            <a:ext cx="20231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재료명을 직접 입력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8547050" y="3555206"/>
            <a:ext cx="1805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유통기한과 수량을 설정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8547050" y="3860006"/>
            <a:ext cx="24117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재료는 리스트로 관리 가능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647700" y="4698206"/>
            <a:ext cx="1089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</a:rPr>
              <a:t>사용된 기술</a:t>
            </a:r>
            <a:endParaRPr lang="en-US" sz="1500" dirty="0"/>
          </a:p>
        </p:txBody>
      </p:sp>
      <p:sp>
        <p:nvSpPr>
          <p:cNvPr id="41" name="Text 15"/>
          <p:cNvSpPr/>
          <p:nvPr/>
        </p:nvSpPr>
        <p:spPr>
          <a:xfrm>
            <a:off x="942975" y="5174456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냉장고 사진에서 재료를 자동으로 </a:t>
            </a:r>
            <a:r>
              <a:rPr lang="en-US" sz="13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인식하고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</a:t>
            </a:r>
            <a:endParaRPr lang="en-US" sz="1350" dirty="0"/>
          </a:p>
        </p:txBody>
      </p:sp>
      <p:sp>
        <p:nvSpPr>
          <p:cNvPr id="42" name="Text 16"/>
          <p:cNvSpPr/>
          <p:nvPr/>
        </p:nvSpPr>
        <p:spPr>
          <a:xfrm>
            <a:off x="6076950" y="5155406"/>
            <a:ext cx="65087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(Optical Character Recognition): </a:t>
            </a:r>
            <a:r>
              <a:rPr lang="ko-KR" alt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영수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 텍스트를 </a:t>
            </a:r>
            <a:r>
              <a:rPr lang="en-US" sz="13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디지털로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752600"/>
            <a:ext cx="5524500" cy="1295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9431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2047875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76600"/>
            <a:ext cx="5524500" cy="1295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34671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571875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752600"/>
            <a:ext cx="5524500" cy="1295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9431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3675" y="2047875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3276600"/>
            <a:ext cx="5524500" cy="1524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4671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43675" y="3571875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5486400"/>
            <a:ext cx="11277600" cy="914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5676900"/>
            <a:ext cx="514350" cy="533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5791200"/>
            <a:ext cx="285750" cy="304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기능 2 - 개인 프로필 설정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457200" y="12573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프로필 설정은 AI 레시피 생성 시 </a:t>
            </a:r>
            <a:r>
              <a:rPr lang="en-US" sz="1350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맞춤 필터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활용되어, 사용자에게 최적화된 레시피를 추천받을 수 있게 합니다.</a:t>
            </a:r>
            <a:endParaRPr lang="en-US" sz="1350" dirty="0"/>
          </a:p>
        </p:txBody>
      </p:sp>
      <p:sp>
        <p:nvSpPr>
          <p:cNvPr id="22" name="Text 2"/>
          <p:cNvSpPr/>
          <p:nvPr/>
        </p:nvSpPr>
        <p:spPr>
          <a:xfrm>
            <a:off x="1276350" y="1943100"/>
            <a:ext cx="39147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알레르기 정보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276350" y="2286000"/>
            <a:ext cx="46977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절대 사용 금지 재료를 등록하여 안전하게 요리할 수 있습니다.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1352550" y="2590800"/>
            <a:ext cx="41052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계란, 우유, 땅콩, 메밀 등</a:t>
            </a:r>
            <a:endParaRPr lang="en-US" sz="1050" dirty="0"/>
          </a:p>
        </p:txBody>
      </p:sp>
      <p:sp>
        <p:nvSpPr>
          <p:cNvPr id="25" name="Text 5"/>
          <p:cNvSpPr/>
          <p:nvPr/>
        </p:nvSpPr>
        <p:spPr>
          <a:xfrm>
            <a:off x="1276350" y="3467100"/>
            <a:ext cx="304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보유 조리도구</a:t>
            </a:r>
            <a:endParaRPr lang="en-US" sz="1500" dirty="0"/>
          </a:p>
        </p:txBody>
      </p:sp>
      <p:sp>
        <p:nvSpPr>
          <p:cNvPr id="26" name="Text 6"/>
          <p:cNvSpPr/>
          <p:nvPr/>
        </p:nvSpPr>
        <p:spPr>
          <a:xfrm>
            <a:off x="1276350" y="3810000"/>
            <a:ext cx="365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보유한 조리도구에 맞춘 레시피를 추천받습니다.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1352550" y="4114800"/>
            <a:ext cx="3238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에어프라이어, 전자레인지, 오븐 등</a:t>
            </a:r>
            <a:endParaRPr lang="en-US" sz="1050" dirty="0"/>
          </a:p>
        </p:txBody>
      </p:sp>
      <p:sp>
        <p:nvSpPr>
          <p:cNvPr id="28" name="Text 8"/>
          <p:cNvSpPr/>
          <p:nvPr/>
        </p:nvSpPr>
        <p:spPr>
          <a:xfrm>
            <a:off x="7029450" y="1943100"/>
            <a:ext cx="3524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식단/건강 목표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7029450" y="2286000"/>
            <a:ext cx="4229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다이어트, 비건, 저염식 등 개인의 건강 목표에 맞춥니다.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7105650" y="2590800"/>
            <a:ext cx="3714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다이어트, 비건, 저염식, 고단백 등</a:t>
            </a:r>
            <a:endParaRPr lang="en-US" sz="1050" dirty="0"/>
          </a:p>
        </p:txBody>
      </p:sp>
      <p:sp>
        <p:nvSpPr>
          <p:cNvPr id="31" name="Text 11"/>
          <p:cNvSpPr/>
          <p:nvPr/>
        </p:nvSpPr>
        <p:spPr>
          <a:xfrm>
            <a:off x="7029450" y="3467100"/>
            <a:ext cx="4514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선호/비선호 재료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7029450" y="3810000"/>
            <a:ext cx="4514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좋아하는 재료는 레시피에 더 많이 포함되게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b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싫어하는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재료는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제외합니다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7105650" y="4343400"/>
            <a:ext cx="4705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선호: 한식, 중식, 일식 등</a:t>
            </a:r>
            <a:endParaRPr lang="en-US" sz="1050" dirty="0"/>
          </a:p>
        </p:txBody>
      </p:sp>
      <p:sp>
        <p:nvSpPr>
          <p:cNvPr id="34" name="Text 14"/>
          <p:cNvSpPr/>
          <p:nvPr/>
        </p:nvSpPr>
        <p:spPr>
          <a:xfrm>
            <a:off x="1314450" y="5676900"/>
            <a:ext cx="74009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</a:rPr>
              <a:t>레시피 생성시 </a:t>
            </a:r>
            <a:r>
              <a:rPr lang="en-US" altLang="ko-KR" sz="150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</a:rPr>
              <a:t>AI </a:t>
            </a:r>
            <a:r>
              <a:rPr lang="ko-KR" altLang="en-US" sz="150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</a:rPr>
              <a:t>활용</a:t>
            </a:r>
            <a:endParaRPr lang="en-US" sz="1500" dirty="0"/>
          </a:p>
        </p:txBody>
      </p:sp>
      <p:sp>
        <p:nvSpPr>
          <p:cNvPr id="35" name="Text 15"/>
          <p:cNvSpPr/>
          <p:nvPr/>
        </p:nvSpPr>
        <p:spPr>
          <a:xfrm>
            <a:off x="1314450" y="5981700"/>
            <a:ext cx="88811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설정한 모든 정보들이 AI 레시피 생성 시 필터/가중치/스타일 가이드로 반영되어, 사용자 맞춤형 레시피를 생성합니다.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43000"/>
            <a:ext cx="2743200" cy="1638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2954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338" y="1428750"/>
            <a:ext cx="20002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90962" y="1857375"/>
            <a:ext cx="142875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1143000"/>
            <a:ext cx="2743200" cy="1638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6800" y="1295400"/>
            <a:ext cx="5715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6825" y="1428750"/>
            <a:ext cx="17145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8163" y="1857375"/>
            <a:ext cx="142875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1600" y="1143000"/>
            <a:ext cx="2743200" cy="1638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0" y="12954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15450" y="142875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505200"/>
            <a:ext cx="11277600" cy="2552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4171950"/>
            <a:ext cx="171450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4552950"/>
            <a:ext cx="171450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4819650"/>
            <a:ext cx="171450" cy="1714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4457700"/>
            <a:ext cx="5448300" cy="647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0300" y="4838700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10375" y="4838700"/>
            <a:ext cx="114300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782300" y="4838700"/>
            <a:ext cx="609600" cy="76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82300" y="4838700"/>
            <a:ext cx="518071" cy="76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5219700"/>
            <a:ext cx="5448300" cy="647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0300" y="5600700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10375" y="5600700"/>
            <a:ext cx="114300" cy="1333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782300" y="5600700"/>
            <a:ext cx="609600" cy="76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82300" y="5600700"/>
            <a:ext cx="365671" cy="762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기능 3 - AI 레시피 생성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1295400" y="1447800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데이터 취합</a:t>
            </a:r>
            <a:endParaRPr lang="en-US" sz="1500" dirty="0"/>
          </a:p>
        </p:txBody>
      </p:sp>
      <p:sp>
        <p:nvSpPr>
          <p:cNvPr id="32" name="Text 2"/>
          <p:cNvSpPr/>
          <p:nvPr/>
        </p:nvSpPr>
        <p:spPr>
          <a:xfrm>
            <a:off x="609600" y="1943100"/>
            <a:ext cx="2438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냉장고 재료 목록과 사용자 프로필 정보를 Flask 백엔드에서 Google Sheets로부터 조회합니다.</a:t>
            </a:r>
            <a:endParaRPr lang="en-US" sz="1200" dirty="0"/>
          </a:p>
        </p:txBody>
      </p:sp>
      <p:sp>
        <p:nvSpPr>
          <p:cNvPr id="33" name="Text 3"/>
          <p:cNvSpPr/>
          <p:nvPr/>
        </p:nvSpPr>
        <p:spPr>
          <a:xfrm>
            <a:off x="5562600" y="1447800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프롬프트 구성</a:t>
            </a:r>
            <a:endParaRPr lang="en-US" sz="1500" dirty="0"/>
          </a:p>
        </p:txBody>
      </p:sp>
      <p:sp>
        <p:nvSpPr>
          <p:cNvPr id="34" name="Text 4"/>
          <p:cNvSpPr/>
          <p:nvPr/>
        </p:nvSpPr>
        <p:spPr>
          <a:xfrm>
            <a:off x="4876800" y="1943100"/>
            <a:ext cx="2438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조회된 재료와 프로필 데이터를 종합 프롬프트로 구성하여 AI에게 전달합니다.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9829800" y="1447800"/>
            <a:ext cx="18402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Gemini API 처리</a:t>
            </a:r>
            <a:endParaRPr lang="en-US" sz="1500" dirty="0"/>
          </a:p>
        </p:txBody>
      </p:sp>
      <p:sp>
        <p:nvSpPr>
          <p:cNvPr id="36" name="Text 6"/>
          <p:cNvSpPr/>
          <p:nvPr/>
        </p:nvSpPr>
        <p:spPr>
          <a:xfrm>
            <a:off x="9144000" y="1943100"/>
            <a:ext cx="2438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구성된 프롬프트를 Gemini-Pro API로 전송하고, JSON 또는 마크다운 구조로 레시피를 생성합니다.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647700" y="3695700"/>
            <a:ext cx="10896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레시피 최적화 로직</a:t>
            </a:r>
            <a:endParaRPr lang="en-US" sz="1800" dirty="0"/>
          </a:p>
        </p:txBody>
      </p:sp>
      <p:sp>
        <p:nvSpPr>
          <p:cNvPr id="38" name="Text 8"/>
          <p:cNvSpPr/>
          <p:nvPr/>
        </p:nvSpPr>
        <p:spPr>
          <a:xfrm>
            <a:off x="895350" y="411480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보유 재료 소진율 계산 로직으로 레시피를 정렬합니다.</a:t>
            </a:r>
            <a:endParaRPr lang="en-US" sz="1350" dirty="0"/>
          </a:p>
        </p:txBody>
      </p:sp>
      <p:sp>
        <p:nvSpPr>
          <p:cNvPr id="39" name="Text 9"/>
          <p:cNvSpPr/>
          <p:nvPr/>
        </p:nvSpPr>
        <p:spPr>
          <a:xfrm>
            <a:off x="895350" y="449580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보유 재료를 최대한 활용하여 낭비를 줄이고요</a:t>
            </a:r>
            <a:endParaRPr lang="en-US" sz="1350" dirty="0"/>
          </a:p>
        </p:txBody>
      </p:sp>
      <p:sp>
        <p:nvSpPr>
          <p:cNvPr id="40" name="Text 10"/>
          <p:cNvSpPr/>
          <p:nvPr/>
        </p:nvSpPr>
        <p:spPr>
          <a:xfrm>
            <a:off x="895350" y="476250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부족한 재료는 최소한으로 추천합니다.</a:t>
            </a:r>
            <a:endParaRPr lang="en-US" sz="1350" dirty="0"/>
          </a:p>
        </p:txBody>
      </p:sp>
      <p:sp>
        <p:nvSpPr>
          <p:cNvPr id="41" name="Text 11"/>
          <p:cNvSpPr/>
          <p:nvPr/>
        </p:nvSpPr>
        <p:spPr>
          <a:xfrm>
            <a:off x="6096000" y="4114800"/>
            <a:ext cx="5448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레시피 카드 예시</a:t>
            </a:r>
            <a:endParaRPr lang="en-US" sz="1350" dirty="0"/>
          </a:p>
        </p:txBody>
      </p:sp>
      <p:sp>
        <p:nvSpPr>
          <p:cNvPr id="42" name="Text 12"/>
          <p:cNvSpPr/>
          <p:nvPr/>
        </p:nvSpPr>
        <p:spPr>
          <a:xfrm>
            <a:off x="6210300" y="4572000"/>
            <a:ext cx="11620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3F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계란말이</a:t>
            </a:r>
            <a:endParaRPr lang="en-US" sz="1200" dirty="0"/>
          </a:p>
        </p:txBody>
      </p:sp>
      <p:sp>
        <p:nvSpPr>
          <p:cNvPr id="43" name="Text 13"/>
          <p:cNvSpPr/>
          <p:nvPr/>
        </p:nvSpPr>
        <p:spPr>
          <a:xfrm>
            <a:off x="6381750" y="4800600"/>
            <a:ext cx="5829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15분</a:t>
            </a:r>
            <a:endParaRPr lang="en-US" sz="1050" dirty="0"/>
          </a:p>
        </p:txBody>
      </p:sp>
      <p:sp>
        <p:nvSpPr>
          <p:cNvPr id="44" name="Text 14"/>
          <p:cNvSpPr/>
          <p:nvPr/>
        </p:nvSpPr>
        <p:spPr>
          <a:xfrm>
            <a:off x="6962775" y="4800600"/>
            <a:ext cx="6743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초간단</a:t>
            </a:r>
            <a:endParaRPr lang="en-US" sz="1050" dirty="0"/>
          </a:p>
        </p:txBody>
      </p:sp>
      <p:sp>
        <p:nvSpPr>
          <p:cNvPr id="45" name="Text 15"/>
          <p:cNvSpPr/>
          <p:nvPr/>
        </p:nvSpPr>
        <p:spPr>
          <a:xfrm>
            <a:off x="10218420" y="4648200"/>
            <a:ext cx="12115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 소진율: 85%</a:t>
            </a:r>
            <a:endParaRPr lang="en-US" sz="1050" dirty="0"/>
          </a:p>
        </p:txBody>
      </p:sp>
      <p:sp>
        <p:nvSpPr>
          <p:cNvPr id="46" name="Text 16"/>
          <p:cNvSpPr/>
          <p:nvPr/>
        </p:nvSpPr>
        <p:spPr>
          <a:xfrm>
            <a:off x="6210300" y="5334000"/>
            <a:ext cx="10382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3F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된장찌개</a:t>
            </a:r>
            <a:endParaRPr lang="en-US" sz="1200" dirty="0"/>
          </a:p>
        </p:txBody>
      </p:sp>
      <p:sp>
        <p:nvSpPr>
          <p:cNvPr id="47" name="Text 17"/>
          <p:cNvSpPr/>
          <p:nvPr/>
        </p:nvSpPr>
        <p:spPr>
          <a:xfrm>
            <a:off x="6381750" y="5562600"/>
            <a:ext cx="5829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25분</a:t>
            </a:r>
            <a:endParaRPr lang="en-US" sz="1050" dirty="0"/>
          </a:p>
        </p:txBody>
      </p:sp>
      <p:sp>
        <p:nvSpPr>
          <p:cNvPr id="48" name="Text 18"/>
          <p:cNvSpPr/>
          <p:nvPr/>
        </p:nvSpPr>
        <p:spPr>
          <a:xfrm>
            <a:off x="6962775" y="5562600"/>
            <a:ext cx="5257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중간</a:t>
            </a:r>
            <a:endParaRPr lang="en-US" sz="1050" dirty="0"/>
          </a:p>
        </p:txBody>
      </p:sp>
      <p:sp>
        <p:nvSpPr>
          <p:cNvPr id="49" name="Text 19"/>
          <p:cNvSpPr/>
          <p:nvPr/>
        </p:nvSpPr>
        <p:spPr>
          <a:xfrm>
            <a:off x="10218420" y="5410200"/>
            <a:ext cx="12115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 소진율: 60%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81100"/>
            <a:ext cx="5410200" cy="1066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716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467100"/>
            <a:ext cx="5410200" cy="2781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3657600"/>
            <a:ext cx="2457450" cy="68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810000"/>
            <a:ext cx="2381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6525" y="4495800"/>
            <a:ext cx="3000375" cy="533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90825" y="4610100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76550" y="4686300"/>
            <a:ext cx="1333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" y="5181600"/>
            <a:ext cx="3520380" cy="876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5334000"/>
            <a:ext cx="23812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181100"/>
            <a:ext cx="5410200" cy="1066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1333500"/>
            <a:ext cx="476250" cy="4762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19875" y="1438275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2400300"/>
            <a:ext cx="5410200" cy="1066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2552700"/>
            <a:ext cx="476250" cy="4762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19875" y="2657475"/>
            <a:ext cx="19050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3619500"/>
            <a:ext cx="5410200" cy="838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3771900"/>
            <a:ext cx="476250" cy="4762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43688" y="3876675"/>
            <a:ext cx="142875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4686300"/>
            <a:ext cx="5410200" cy="533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4876800"/>
            <a:ext cx="152400" cy="1524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기능 4 - AI 쿠킹 어시스턴트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876300" y="13335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실시간 챗봇 상담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609600" y="17145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요리 중 발생하는 돌발 상황에 대해 AI 챗봇이 실시간으로 해결책을 제안합니다.</a:t>
            </a:r>
            <a:endParaRPr lang="en-US" sz="1200" dirty="0"/>
          </a:p>
        </p:txBody>
      </p:sp>
      <p:sp>
        <p:nvSpPr>
          <p:cNvPr id="29" name="Text 3"/>
          <p:cNvSpPr/>
          <p:nvPr/>
        </p:nvSpPr>
        <p:spPr>
          <a:xfrm>
            <a:off x="1114425" y="3771900"/>
            <a:ext cx="22517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상황을 알려주세요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1114425" y="4038600"/>
            <a:ext cx="22517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간이 짜요 / 이 재료 대신 뭐 써요?</a:t>
            </a:r>
            <a:endParaRPr lang="en-US" sz="1050" dirty="0"/>
          </a:p>
        </p:txBody>
      </p:sp>
      <p:sp>
        <p:nvSpPr>
          <p:cNvPr id="31" name="Text 5"/>
          <p:cNvSpPr/>
          <p:nvPr/>
        </p:nvSpPr>
        <p:spPr>
          <a:xfrm>
            <a:off x="3209925" y="4610100"/>
            <a:ext cx="28232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간이 짜요. 소금 대신에 뭐 쓸 수 있을까요?</a:t>
            </a:r>
            <a:endParaRPr lang="en-US" sz="1050" dirty="0"/>
          </a:p>
        </p:txBody>
      </p:sp>
      <p:sp>
        <p:nvSpPr>
          <p:cNvPr id="32" name="Text 6"/>
          <p:cNvSpPr/>
          <p:nvPr/>
        </p:nvSpPr>
        <p:spPr>
          <a:xfrm>
            <a:off x="1114425" y="5295900"/>
            <a:ext cx="293935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 재료 추천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1114425" y="5562600"/>
            <a:ext cx="293935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소금 대신에 허브나 커리가루를 사용해보세요. 요리 중이라면 워터 게이트 액체 소금도 좋습니다.</a:t>
            </a:r>
            <a:endParaRPr lang="en-US" sz="1050" dirty="0"/>
          </a:p>
        </p:txBody>
      </p:sp>
      <p:sp>
        <p:nvSpPr>
          <p:cNvPr id="34" name="Text 8"/>
          <p:cNvSpPr/>
          <p:nvPr/>
        </p:nvSpPr>
        <p:spPr>
          <a:xfrm>
            <a:off x="7105650" y="1333500"/>
            <a:ext cx="4476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대화 기록 기반 조언</a:t>
            </a:r>
            <a:endParaRPr lang="en-US" sz="1350" dirty="0"/>
          </a:p>
        </p:txBody>
      </p:sp>
      <p:sp>
        <p:nvSpPr>
          <p:cNvPr id="35" name="Text 9"/>
          <p:cNvSpPr/>
          <p:nvPr/>
        </p:nvSpPr>
        <p:spPr>
          <a:xfrm>
            <a:off x="7105650" y="1638300"/>
            <a:ext cx="4476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사용자별, 레시피별 대화 기록을 관리하여 이전 상황을 기억하고 맞춤형 조언을 제공합니다.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7105650" y="2552700"/>
            <a:ext cx="4476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레시피 컨텍스트 이해</a:t>
            </a:r>
            <a:endParaRPr lang="en-US" sz="1350" dirty="0"/>
          </a:p>
        </p:txBody>
      </p:sp>
      <p:sp>
        <p:nvSpPr>
          <p:cNvPr id="37" name="Text 11"/>
          <p:cNvSpPr/>
          <p:nvPr/>
        </p:nvSpPr>
        <p:spPr>
          <a:xfrm>
            <a:off x="7105650" y="2857500"/>
            <a:ext cx="4476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조리 단계와 레시피 전체 내용을 고려하여 가장 안전하고 현실적인 해결책을 제시합니다.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7105650" y="3771900"/>
            <a:ext cx="441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음성 질문 가능 (프리미엄)</a:t>
            </a:r>
            <a:endParaRPr lang="en-US" sz="1350" dirty="0"/>
          </a:p>
        </p:txBody>
      </p:sp>
      <p:sp>
        <p:nvSpPr>
          <p:cNvPr id="39" name="Text 13"/>
          <p:cNvSpPr/>
          <p:nvPr/>
        </p:nvSpPr>
        <p:spPr>
          <a:xfrm>
            <a:off x="7105650" y="4076700"/>
            <a:ext cx="5303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프리미엄 구독 시, AI에게 음성으로 질문할 수 있는 기능을 추가합니다.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6705600" y="48387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시점: 레시피 생성 후 쿠킹 모드 진입 시에만 사용할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</a:t>
            </a:r>
            <a:r>
              <a:rPr lang="en-US" sz="2700" b="1" dirty="0" err="1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기능</a:t>
            </a:r>
            <a:r>
              <a:rPr lang="en-US" sz="27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5 - </a:t>
            </a:r>
            <a:r>
              <a:rPr lang="ko-KR" altLang="en-US" sz="27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커뮤니티</a:t>
            </a:r>
            <a:endParaRPr lang="en-US" sz="2700" dirty="0"/>
          </a:p>
        </p:txBody>
      </p:sp>
      <p:sp>
        <p:nvSpPr>
          <p:cNvPr id="40" name="Text 14"/>
          <p:cNvSpPr/>
          <p:nvPr/>
        </p:nvSpPr>
        <p:spPr>
          <a:xfrm>
            <a:off x="6705600" y="48387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pic>
        <p:nvPicPr>
          <p:cNvPr id="41" name="Image 3" descr="preencoded.png">
            <a:extLst>
              <a:ext uri="{FF2B5EF4-FFF2-40B4-BE49-F238E27FC236}">
                <a16:creationId xmlns:a16="http://schemas.microsoft.com/office/drawing/2014/main" id="{05CFD2B3-FDB4-4C46-8652-C0B1D5F19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862" y="1238250"/>
            <a:ext cx="3555950" cy="4800600"/>
          </a:xfrm>
          <a:prstGeom prst="rect">
            <a:avLst/>
          </a:prstGeom>
        </p:spPr>
      </p:pic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2C8504BF-FF95-4946-9298-9DCBC60269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462" y="1466850"/>
            <a:ext cx="762000" cy="762000"/>
          </a:xfrm>
          <a:prstGeom prst="rect">
            <a:avLst/>
          </a:prstGeom>
        </p:spPr>
      </p:pic>
      <p:pic>
        <p:nvPicPr>
          <p:cNvPr id="43" name="Image 5" descr="preencoded.png">
            <a:extLst>
              <a:ext uri="{FF2B5EF4-FFF2-40B4-BE49-F238E27FC236}">
                <a16:creationId xmlns:a16="http://schemas.microsoft.com/office/drawing/2014/main" id="{9844B261-33C2-4510-BED6-5210A5D52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150" y="1657350"/>
            <a:ext cx="428625" cy="381000"/>
          </a:xfrm>
          <a:prstGeom prst="rect">
            <a:avLst/>
          </a:prstGeom>
        </p:spPr>
      </p:pic>
      <p:pic>
        <p:nvPicPr>
          <p:cNvPr id="44" name="Image 6" descr="preencoded.png">
            <a:extLst>
              <a:ext uri="{FF2B5EF4-FFF2-40B4-BE49-F238E27FC236}">
                <a16:creationId xmlns:a16="http://schemas.microsoft.com/office/drawing/2014/main" id="{0BC568B1-8398-438C-89C5-B531A6884F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462" y="2842171"/>
            <a:ext cx="152400" cy="152400"/>
          </a:xfrm>
          <a:prstGeom prst="rect">
            <a:avLst/>
          </a:prstGeom>
        </p:spPr>
      </p:pic>
      <p:pic>
        <p:nvPicPr>
          <p:cNvPr id="45" name="Image 7" descr="preencoded.png">
            <a:extLst>
              <a:ext uri="{FF2B5EF4-FFF2-40B4-BE49-F238E27FC236}">
                <a16:creationId xmlns:a16="http://schemas.microsoft.com/office/drawing/2014/main" id="{8528E2F2-2902-4E72-A049-AC35F3C67B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462" y="3375571"/>
            <a:ext cx="152400" cy="152400"/>
          </a:xfrm>
          <a:prstGeom prst="rect">
            <a:avLst/>
          </a:prstGeom>
        </p:spPr>
      </p:pic>
      <p:pic>
        <p:nvPicPr>
          <p:cNvPr id="46" name="Image 8" descr="preencoded.png">
            <a:extLst>
              <a:ext uri="{FF2B5EF4-FFF2-40B4-BE49-F238E27FC236}">
                <a16:creationId xmlns:a16="http://schemas.microsoft.com/office/drawing/2014/main" id="{B04165EA-4E7C-4AA0-9201-5F8E1B613A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462" y="3908971"/>
            <a:ext cx="152400" cy="152400"/>
          </a:xfrm>
          <a:prstGeom prst="rect">
            <a:avLst/>
          </a:prstGeom>
        </p:spPr>
      </p:pic>
      <p:pic>
        <p:nvPicPr>
          <p:cNvPr id="47" name="Image 9" descr="preencoded.png">
            <a:extLst>
              <a:ext uri="{FF2B5EF4-FFF2-40B4-BE49-F238E27FC236}">
                <a16:creationId xmlns:a16="http://schemas.microsoft.com/office/drawing/2014/main" id="{DF99AB12-BBF9-4861-B257-F10D4B966D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462" y="5391150"/>
            <a:ext cx="3098750" cy="419100"/>
          </a:xfrm>
          <a:prstGeom prst="rect">
            <a:avLst/>
          </a:prstGeom>
        </p:spPr>
      </p:pic>
      <p:pic>
        <p:nvPicPr>
          <p:cNvPr id="48" name="Image 10" descr="preencoded.png">
            <a:extLst>
              <a:ext uri="{FF2B5EF4-FFF2-40B4-BE49-F238E27FC236}">
                <a16:creationId xmlns:a16="http://schemas.microsoft.com/office/drawing/2014/main" id="{1A040ACA-DDE0-4D91-A89B-B0F1F33C86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762" y="5543550"/>
            <a:ext cx="104775" cy="133350"/>
          </a:xfrm>
          <a:prstGeom prst="rect">
            <a:avLst/>
          </a:prstGeom>
        </p:spPr>
      </p:pic>
      <p:sp>
        <p:nvSpPr>
          <p:cNvPr id="49" name="Text 2">
            <a:extLst>
              <a:ext uri="{FF2B5EF4-FFF2-40B4-BE49-F238E27FC236}">
                <a16:creationId xmlns:a16="http://schemas.microsoft.com/office/drawing/2014/main" id="{78A38E82-CBF2-4BC5-BBB0-90A6A7AB1361}"/>
              </a:ext>
            </a:extLst>
          </p:cNvPr>
          <p:cNvSpPr/>
          <p:nvPr/>
        </p:nvSpPr>
        <p:spPr>
          <a:xfrm>
            <a:off x="1585862" y="1695450"/>
            <a:ext cx="22631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커뮤니티 후기 공유</a:t>
            </a:r>
            <a:endParaRPr lang="en-US" sz="1800" dirty="0"/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92C2ED32-70D0-4F05-B9AD-C9BE45A25CDA}"/>
              </a:ext>
            </a:extLst>
          </p:cNvPr>
          <p:cNvSpPr/>
          <p:nvPr/>
        </p:nvSpPr>
        <p:spPr>
          <a:xfrm>
            <a:off x="785762" y="2381250"/>
            <a:ext cx="468630" cy="270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endParaRPr lang="en-US" sz="1020" dirty="0"/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4B79B612-3CD8-4286-B94D-2D8642245CB2}"/>
              </a:ext>
            </a:extLst>
          </p:cNvPr>
          <p:cNvSpPr/>
          <p:nvPr/>
        </p:nvSpPr>
        <p:spPr>
          <a:xfrm>
            <a:off x="672263" y="2393928"/>
            <a:ext cx="1062990" cy="270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15803D"/>
                </a:solidFill>
                <a:highlight>
                  <a:srgbClr val="DCFCE7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레시피 확장</a:t>
            </a:r>
            <a:endParaRPr lang="en-US" sz="1020" dirty="0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AEBE041A-1195-4D4A-B630-AD42E46B6E65}"/>
              </a:ext>
            </a:extLst>
          </p:cNvPr>
          <p:cNvSpPr/>
          <p:nvPr/>
        </p:nvSpPr>
        <p:spPr>
          <a:xfrm>
            <a:off x="900062" y="2804071"/>
            <a:ext cx="2870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만든 요리의 완성 사진,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좋아요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b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내용을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커뮤니티에 공유</a:t>
            </a:r>
            <a:endParaRPr lang="en-US" sz="1200" dirty="0"/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64679679-80C5-4F49-A55D-586DDCA75182}"/>
              </a:ext>
            </a:extLst>
          </p:cNvPr>
          <p:cNvSpPr/>
          <p:nvPr/>
        </p:nvSpPr>
        <p:spPr>
          <a:xfrm>
            <a:off x="900062" y="3337471"/>
            <a:ext cx="2870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사용자들의 후기 참고하여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레시피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선택에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활용</a:t>
            </a:r>
            <a:endParaRPr lang="en-US" sz="1200" dirty="0"/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0D5CB3A7-689F-4A28-B610-7A4CE402D456}"/>
              </a:ext>
            </a:extLst>
          </p:cNvPr>
          <p:cNvSpPr/>
          <p:nvPr/>
        </p:nvSpPr>
        <p:spPr>
          <a:xfrm>
            <a:off x="900062" y="3870871"/>
            <a:ext cx="2870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/api/recipes/{id}/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review로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후기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작성, GET으로 조회</a:t>
            </a:r>
            <a:endParaRPr lang="en-US" sz="1200" dirty="0"/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1ED8A78E-F8FD-488B-B9FC-952D59723F29}"/>
              </a:ext>
            </a:extLst>
          </p:cNvPr>
          <p:cNvSpPr/>
          <p:nvPr/>
        </p:nvSpPr>
        <p:spPr>
          <a:xfrm>
            <a:off x="890537" y="5524500"/>
            <a:ext cx="34441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사용자 간 상호작용을 통해 앱 생태계 형성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74103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4547" y="3768375"/>
            <a:ext cx="7620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5548" y="3768375"/>
            <a:ext cx="762000" cy="285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6548" y="3768375"/>
            <a:ext cx="762000" cy="28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1260" y="4163662"/>
            <a:ext cx="4191000" cy="28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260" y="4163662"/>
            <a:ext cx="4191000" cy="285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260" y="2449162"/>
            <a:ext cx="2743200" cy="21145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760" y="2639662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160" y="2725387"/>
            <a:ext cx="1714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760" y="3277837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6760" y="3582637"/>
            <a:ext cx="1714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6760" y="3887437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6760" y="4192237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00961" y="2449162"/>
            <a:ext cx="2743200" cy="21145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91461" y="2639662"/>
            <a:ext cx="476250" cy="4762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15286" y="2725387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91461" y="3277837"/>
            <a:ext cx="1333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91461" y="3582637"/>
            <a:ext cx="17145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91461" y="3887437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91461" y="4192237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45662" y="2449162"/>
            <a:ext cx="2743200" cy="21145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36162" y="2639662"/>
            <a:ext cx="476250" cy="4762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74274" y="2725387"/>
            <a:ext cx="200025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36162" y="3277837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36162" y="3582637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36162" y="3887437"/>
            <a:ext cx="13335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36162" y="4192237"/>
            <a:ext cx="13335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362" y="2449162"/>
            <a:ext cx="2743200" cy="21145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80862" y="2639662"/>
            <a:ext cx="476250" cy="47625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204687" y="2725387"/>
            <a:ext cx="228600" cy="3048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080862" y="3277837"/>
            <a:ext cx="1524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080862" y="3582637"/>
            <a:ext cx="17145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080862" y="3887437"/>
            <a:ext cx="17145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080862" y="4192237"/>
            <a:ext cx="114300" cy="152400"/>
          </a:xfrm>
          <a:prstGeom prst="rect">
            <a:avLst/>
          </a:prstGeom>
        </p:spPr>
      </p:pic>
      <p:sp>
        <p:nvSpPr>
          <p:cNvPr id="48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기술 아키텍처</a:t>
            </a:r>
            <a:endParaRPr lang="en-US" sz="2700" dirty="0"/>
          </a:p>
        </p:txBody>
      </p:sp>
      <p:sp>
        <p:nvSpPr>
          <p:cNvPr id="49" name="Text 1"/>
          <p:cNvSpPr/>
          <p:nvPr/>
        </p:nvSpPr>
        <p:spPr>
          <a:xfrm>
            <a:off x="1137310" y="2744437"/>
            <a:ext cx="10744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0" name="Text 2"/>
          <p:cNvSpPr/>
          <p:nvPr/>
        </p:nvSpPr>
        <p:spPr>
          <a:xfrm>
            <a:off x="862599" y="3230212"/>
            <a:ext cx="3063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React Native</a:t>
            </a:r>
            <a:endParaRPr lang="en-US" sz="1200" dirty="0"/>
          </a:p>
        </p:txBody>
      </p:sp>
      <p:sp>
        <p:nvSpPr>
          <p:cNvPr id="51" name="Text 3"/>
          <p:cNvSpPr/>
          <p:nvPr/>
        </p:nvSpPr>
        <p:spPr>
          <a:xfrm>
            <a:off x="881649" y="3535012"/>
            <a:ext cx="3063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Screens, Components</a:t>
            </a:r>
            <a:endParaRPr lang="en-US" sz="1200" dirty="0"/>
          </a:p>
        </p:txBody>
      </p:sp>
      <p:sp>
        <p:nvSpPr>
          <p:cNvPr id="52" name="Text 4"/>
          <p:cNvSpPr/>
          <p:nvPr/>
        </p:nvSpPr>
        <p:spPr>
          <a:xfrm>
            <a:off x="900699" y="3839812"/>
            <a:ext cx="3063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API Communication</a:t>
            </a:r>
            <a:endParaRPr lang="en-US" sz="1200" dirty="0"/>
          </a:p>
        </p:txBody>
      </p:sp>
      <p:sp>
        <p:nvSpPr>
          <p:cNvPr id="53" name="Text 5"/>
          <p:cNvSpPr/>
          <p:nvPr/>
        </p:nvSpPr>
        <p:spPr>
          <a:xfrm>
            <a:off x="862599" y="4144612"/>
            <a:ext cx="2552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Navigation</a:t>
            </a:r>
            <a:endParaRPr lang="en-US" sz="1200" dirty="0"/>
          </a:p>
        </p:txBody>
      </p:sp>
      <p:sp>
        <p:nvSpPr>
          <p:cNvPr id="54" name="Text 6"/>
          <p:cNvSpPr/>
          <p:nvPr/>
        </p:nvSpPr>
        <p:spPr>
          <a:xfrm>
            <a:off x="3982011" y="2744437"/>
            <a:ext cx="1005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Backend</a:t>
            </a:r>
            <a:endParaRPr lang="en-US" sz="1500" dirty="0"/>
          </a:p>
        </p:txBody>
      </p:sp>
      <p:sp>
        <p:nvSpPr>
          <p:cNvPr id="55" name="Text 7"/>
          <p:cNvSpPr/>
          <p:nvPr/>
        </p:nvSpPr>
        <p:spPr>
          <a:xfrm>
            <a:off x="3688250" y="3230212"/>
            <a:ext cx="3063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Python Flask</a:t>
            </a:r>
            <a:endParaRPr lang="en-US" sz="1200" dirty="0"/>
          </a:p>
        </p:txBody>
      </p:sp>
      <p:sp>
        <p:nvSpPr>
          <p:cNvPr id="56" name="Text 8"/>
          <p:cNvSpPr/>
          <p:nvPr/>
        </p:nvSpPr>
        <p:spPr>
          <a:xfrm>
            <a:off x="3726350" y="3535012"/>
            <a:ext cx="3063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REST API Routes</a:t>
            </a:r>
            <a:endParaRPr lang="en-US" sz="1200" dirty="0"/>
          </a:p>
        </p:txBody>
      </p:sp>
      <p:sp>
        <p:nvSpPr>
          <p:cNvPr id="57" name="Text 9"/>
          <p:cNvSpPr/>
          <p:nvPr/>
        </p:nvSpPr>
        <p:spPr>
          <a:xfrm>
            <a:off x="3745400" y="3839812"/>
            <a:ext cx="3063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Business Logic Services</a:t>
            </a:r>
            <a:endParaRPr lang="en-US" sz="1200" dirty="0"/>
          </a:p>
        </p:txBody>
      </p:sp>
      <p:sp>
        <p:nvSpPr>
          <p:cNvPr id="58" name="Text 10"/>
          <p:cNvSpPr/>
          <p:nvPr/>
        </p:nvSpPr>
        <p:spPr>
          <a:xfrm>
            <a:off x="3707300" y="4144612"/>
            <a:ext cx="3063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API Integration</a:t>
            </a:r>
            <a:endParaRPr lang="en-US" sz="1200" dirty="0"/>
          </a:p>
        </p:txBody>
      </p:sp>
      <p:sp>
        <p:nvSpPr>
          <p:cNvPr id="59" name="Text 11"/>
          <p:cNvSpPr/>
          <p:nvPr/>
        </p:nvSpPr>
        <p:spPr>
          <a:xfrm>
            <a:off x="6826712" y="2744437"/>
            <a:ext cx="10744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Database</a:t>
            </a:r>
            <a:endParaRPr lang="en-US" sz="1500" dirty="0"/>
          </a:p>
        </p:txBody>
      </p:sp>
      <p:sp>
        <p:nvSpPr>
          <p:cNvPr id="60" name="Text 12"/>
          <p:cNvSpPr/>
          <p:nvPr/>
        </p:nvSpPr>
        <p:spPr>
          <a:xfrm>
            <a:off x="6552001" y="3230212"/>
            <a:ext cx="3063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Google Sheets</a:t>
            </a:r>
            <a:endParaRPr lang="en-US" sz="1200" dirty="0"/>
          </a:p>
        </p:txBody>
      </p:sp>
      <p:sp>
        <p:nvSpPr>
          <p:cNvPr id="61" name="Text 13"/>
          <p:cNvSpPr/>
          <p:nvPr/>
        </p:nvSpPr>
        <p:spPr>
          <a:xfrm>
            <a:off x="6552001" y="3535012"/>
            <a:ext cx="3063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User Profiles</a:t>
            </a:r>
            <a:endParaRPr lang="en-US" sz="1200" dirty="0"/>
          </a:p>
        </p:txBody>
      </p:sp>
      <p:sp>
        <p:nvSpPr>
          <p:cNvPr id="62" name="Text 14"/>
          <p:cNvSpPr/>
          <p:nvPr/>
        </p:nvSpPr>
        <p:spPr>
          <a:xfrm>
            <a:off x="6532951" y="3839812"/>
            <a:ext cx="3063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Fridge Items</a:t>
            </a:r>
            <a:endParaRPr lang="en-US" sz="1200" dirty="0"/>
          </a:p>
        </p:txBody>
      </p:sp>
      <p:sp>
        <p:nvSpPr>
          <p:cNvPr id="63" name="Text 15"/>
          <p:cNvSpPr/>
          <p:nvPr/>
        </p:nvSpPr>
        <p:spPr>
          <a:xfrm>
            <a:off x="6532951" y="4144612"/>
            <a:ext cx="2552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Recipes</a:t>
            </a:r>
            <a:endParaRPr lang="en-US" sz="1200" dirty="0"/>
          </a:p>
        </p:txBody>
      </p:sp>
      <p:sp>
        <p:nvSpPr>
          <p:cNvPr id="64" name="Text 16"/>
          <p:cNvSpPr/>
          <p:nvPr/>
        </p:nvSpPr>
        <p:spPr>
          <a:xfrm>
            <a:off x="9671412" y="2744437"/>
            <a:ext cx="1303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Services</a:t>
            </a:r>
            <a:endParaRPr lang="en-US" sz="1500" dirty="0"/>
          </a:p>
        </p:txBody>
      </p:sp>
      <p:sp>
        <p:nvSpPr>
          <p:cNvPr id="65" name="Text 17"/>
          <p:cNvSpPr/>
          <p:nvPr/>
        </p:nvSpPr>
        <p:spPr>
          <a:xfrm>
            <a:off x="9396701" y="3230212"/>
            <a:ext cx="2552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Gemini API</a:t>
            </a:r>
            <a:endParaRPr lang="en-US" sz="1200" dirty="0"/>
          </a:p>
        </p:txBody>
      </p:sp>
      <p:sp>
        <p:nvSpPr>
          <p:cNvPr id="66" name="Text 18"/>
          <p:cNvSpPr/>
          <p:nvPr/>
        </p:nvSpPr>
        <p:spPr>
          <a:xfrm>
            <a:off x="9415751" y="3535012"/>
            <a:ext cx="2552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Vision API</a:t>
            </a:r>
            <a:endParaRPr lang="en-US" sz="1200" dirty="0"/>
          </a:p>
        </p:txBody>
      </p:sp>
      <p:sp>
        <p:nvSpPr>
          <p:cNvPr id="67" name="Text 19"/>
          <p:cNvSpPr/>
          <p:nvPr/>
        </p:nvSpPr>
        <p:spPr>
          <a:xfrm>
            <a:off x="9415751" y="3839812"/>
            <a:ext cx="2552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Embeddings</a:t>
            </a:r>
            <a:endParaRPr lang="en-US" sz="1200" dirty="0"/>
          </a:p>
        </p:txBody>
      </p:sp>
      <p:sp>
        <p:nvSpPr>
          <p:cNvPr id="68" name="Text 20"/>
          <p:cNvSpPr/>
          <p:nvPr/>
        </p:nvSpPr>
        <p:spPr>
          <a:xfrm>
            <a:off x="9404073" y="4161992"/>
            <a:ext cx="3063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Recipe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524000"/>
            <a:ext cx="3606701" cy="2857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7145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177165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2781300"/>
            <a:ext cx="3225701" cy="419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2501" y="1524000"/>
            <a:ext cx="3606850" cy="2857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3001" y="17145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8251" y="177165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3001" y="3009900"/>
            <a:ext cx="322585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3001" y="3695700"/>
            <a:ext cx="157475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33951" y="3695700"/>
            <a:ext cx="157475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7950" y="1524000"/>
            <a:ext cx="3606701" cy="2857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18450" y="171450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23225" y="177165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18450" y="2781300"/>
            <a:ext cx="3225701" cy="647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18450" y="3543300"/>
            <a:ext cx="3225701" cy="647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4533900"/>
            <a:ext cx="5524500" cy="1828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472440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8663" y="4781550"/>
            <a:ext cx="21907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" y="6010275"/>
            <a:ext cx="133350" cy="1333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62300" y="5219700"/>
            <a:ext cx="2628900" cy="952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76600" y="5334000"/>
            <a:ext cx="30480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24350" y="5334000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72100" y="5334000"/>
            <a:ext cx="3048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10300" y="4533900"/>
            <a:ext cx="5524500" cy="1828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0800" y="4724400"/>
            <a:ext cx="381000" cy="3810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81763" y="4781550"/>
            <a:ext cx="219075" cy="266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6010275"/>
            <a:ext cx="133350" cy="1333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163175" y="5372100"/>
            <a:ext cx="247650" cy="3429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96500" y="5791200"/>
            <a:ext cx="381000" cy="381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UX/UI 디자인 원칙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457200" y="11049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"따뜻한 집밥(Warm)"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컨셉의 웜톤 디자인은 접근성과 사용 편의성을 극대화합니다.</a:t>
            </a:r>
            <a:endParaRPr lang="en-US" sz="1350" dirty="0"/>
          </a:p>
        </p:txBody>
      </p:sp>
      <p:sp>
        <p:nvSpPr>
          <p:cNvPr id="36" name="Text 2"/>
          <p:cNvSpPr/>
          <p:nvPr/>
        </p:nvSpPr>
        <p:spPr>
          <a:xfrm>
            <a:off x="1143000" y="1771650"/>
            <a:ext cx="1085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미니멀리즘</a:t>
            </a:r>
            <a:endParaRPr lang="en-US" sz="1500" dirty="0"/>
          </a:p>
        </p:txBody>
      </p:sp>
      <p:sp>
        <p:nvSpPr>
          <p:cNvPr id="37" name="Text 3"/>
          <p:cNvSpPr/>
          <p:nvPr/>
        </p:nvSpPr>
        <p:spPr>
          <a:xfrm>
            <a:off x="647700" y="2209800"/>
            <a:ext cx="3225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부드러운 라운드 코너와 은은한 그림자 효과로, </a:t>
            </a:r>
            <a:b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간결하고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따뜻한 디자인을 유지합니다.</a:t>
            </a:r>
            <a:endParaRPr lang="en-US" sz="1200" dirty="0"/>
          </a:p>
        </p:txBody>
      </p:sp>
      <p:sp>
        <p:nvSpPr>
          <p:cNvPr id="38" name="Text 4"/>
          <p:cNvSpPr/>
          <p:nvPr/>
        </p:nvSpPr>
        <p:spPr>
          <a:xfrm>
            <a:off x="762000" y="2895600"/>
            <a:ext cx="914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Elements</a:t>
            </a:r>
            <a:endParaRPr lang="en-US" sz="1050" dirty="0"/>
          </a:p>
        </p:txBody>
      </p:sp>
      <p:sp>
        <p:nvSpPr>
          <p:cNvPr id="39" name="Text 5"/>
          <p:cNvSpPr/>
          <p:nvPr/>
        </p:nvSpPr>
        <p:spPr>
          <a:xfrm>
            <a:off x="2854226" y="2895600"/>
            <a:ext cx="10858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간결하고 직관적</a:t>
            </a:r>
            <a:endParaRPr lang="en-US" sz="1050" dirty="0"/>
          </a:p>
        </p:txBody>
      </p:sp>
      <p:sp>
        <p:nvSpPr>
          <p:cNvPr id="40" name="Text 6"/>
          <p:cNvSpPr/>
          <p:nvPr/>
        </p:nvSpPr>
        <p:spPr>
          <a:xfrm>
            <a:off x="4978301" y="1771650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컬러 팔레트</a:t>
            </a:r>
            <a:endParaRPr lang="en-US" sz="1500" dirty="0"/>
          </a:p>
        </p:txBody>
      </p:sp>
      <p:sp>
        <p:nvSpPr>
          <p:cNvPr id="41" name="Text 7"/>
          <p:cNvSpPr/>
          <p:nvPr/>
        </p:nvSpPr>
        <p:spPr>
          <a:xfrm>
            <a:off x="4483001" y="2209800"/>
            <a:ext cx="322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따뜻한 느낌을 주는 색상들을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조합하여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b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사용자에게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편안한 경험을 제공합니다.</a:t>
            </a:r>
            <a:endParaRPr lang="en-US" sz="1200" dirty="0"/>
          </a:p>
        </p:txBody>
      </p:sp>
      <p:sp>
        <p:nvSpPr>
          <p:cNvPr id="42" name="Text 8"/>
          <p:cNvSpPr/>
          <p:nvPr/>
        </p:nvSpPr>
        <p:spPr>
          <a:xfrm>
            <a:off x="4483001" y="278130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배경</a:t>
            </a:r>
            <a:endParaRPr lang="en-US" sz="1050" dirty="0"/>
          </a:p>
        </p:txBody>
      </p:sp>
      <p:sp>
        <p:nvSpPr>
          <p:cNvPr id="43" name="Text 9"/>
          <p:cNvSpPr/>
          <p:nvPr/>
        </p:nvSpPr>
        <p:spPr>
          <a:xfrm>
            <a:off x="6908750" y="2781300"/>
            <a:ext cx="9601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아이보리/크림</a:t>
            </a:r>
            <a:endParaRPr lang="en-US" sz="1050" dirty="0"/>
          </a:p>
        </p:txBody>
      </p:sp>
      <p:sp>
        <p:nvSpPr>
          <p:cNvPr id="44" name="Text 10"/>
          <p:cNvSpPr/>
          <p:nvPr/>
        </p:nvSpPr>
        <p:spPr>
          <a:xfrm>
            <a:off x="4483001" y="3467100"/>
            <a:ext cx="7886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포인트 컬러</a:t>
            </a:r>
            <a:endParaRPr lang="en-US" sz="1050" dirty="0"/>
          </a:p>
        </p:txBody>
      </p:sp>
      <p:sp>
        <p:nvSpPr>
          <p:cNvPr id="45" name="Text 11"/>
          <p:cNvSpPr/>
          <p:nvPr/>
        </p:nvSpPr>
        <p:spPr>
          <a:xfrm>
            <a:off x="6661100" y="3467100"/>
            <a:ext cx="1257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테라코타/머스타드</a:t>
            </a:r>
            <a:endParaRPr lang="en-US" sz="1050" dirty="0"/>
          </a:p>
        </p:txBody>
      </p:sp>
      <p:sp>
        <p:nvSpPr>
          <p:cNvPr id="46" name="Text 12"/>
          <p:cNvSpPr/>
          <p:nvPr/>
        </p:nvSpPr>
        <p:spPr>
          <a:xfrm>
            <a:off x="8813750" y="1771650"/>
            <a:ext cx="1303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타이포그래피</a:t>
            </a:r>
            <a:endParaRPr lang="en-US" sz="1500" dirty="0"/>
          </a:p>
        </p:txBody>
      </p:sp>
      <p:sp>
        <p:nvSpPr>
          <p:cNvPr id="47" name="Text 13"/>
          <p:cNvSpPr/>
          <p:nvPr/>
        </p:nvSpPr>
        <p:spPr>
          <a:xfrm>
            <a:off x="8318450" y="2209800"/>
            <a:ext cx="3225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가독성을 높이기 위해 따뜻한 폰트를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선택하고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b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간격을 설정합니다.</a:t>
            </a:r>
            <a:endParaRPr lang="en-US" sz="1200" dirty="0"/>
          </a:p>
        </p:txBody>
      </p:sp>
      <p:sp>
        <p:nvSpPr>
          <p:cNvPr id="48" name="Text 14"/>
          <p:cNvSpPr/>
          <p:nvPr/>
        </p:nvSpPr>
        <p:spPr>
          <a:xfrm>
            <a:off x="8432750" y="2895600"/>
            <a:ext cx="29971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명조/세리프 계열</a:t>
            </a:r>
            <a:endParaRPr lang="en-US" sz="1200" dirty="0"/>
          </a:p>
        </p:txBody>
      </p:sp>
      <p:sp>
        <p:nvSpPr>
          <p:cNvPr id="49" name="Text 15"/>
          <p:cNvSpPr/>
          <p:nvPr/>
        </p:nvSpPr>
        <p:spPr>
          <a:xfrm>
            <a:off x="8432750" y="3124200"/>
            <a:ext cx="29971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제목에 사용</a:t>
            </a:r>
            <a:endParaRPr lang="en-US" sz="1050" dirty="0"/>
          </a:p>
        </p:txBody>
      </p:sp>
      <p:sp>
        <p:nvSpPr>
          <p:cNvPr id="50" name="Text 16"/>
          <p:cNvSpPr/>
          <p:nvPr/>
        </p:nvSpPr>
        <p:spPr>
          <a:xfrm>
            <a:off x="8432750" y="3657600"/>
            <a:ext cx="29971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산세리프 계열</a:t>
            </a:r>
            <a:endParaRPr lang="en-US" sz="1200" dirty="0"/>
          </a:p>
        </p:txBody>
      </p:sp>
      <p:sp>
        <p:nvSpPr>
          <p:cNvPr id="51" name="Text 17"/>
          <p:cNvSpPr/>
          <p:nvPr/>
        </p:nvSpPr>
        <p:spPr>
          <a:xfrm>
            <a:off x="8432750" y="3886200"/>
            <a:ext cx="29971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본문에 사용</a:t>
            </a:r>
            <a:endParaRPr lang="en-US" sz="1050" dirty="0"/>
          </a:p>
        </p:txBody>
      </p:sp>
      <p:sp>
        <p:nvSpPr>
          <p:cNvPr id="52" name="Text 18"/>
          <p:cNvSpPr/>
          <p:nvPr/>
        </p:nvSpPr>
        <p:spPr>
          <a:xfrm>
            <a:off x="1143000" y="4781550"/>
            <a:ext cx="6515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가독성</a:t>
            </a:r>
            <a:endParaRPr lang="en-US" sz="1500" dirty="0"/>
          </a:p>
        </p:txBody>
      </p:sp>
      <p:sp>
        <p:nvSpPr>
          <p:cNvPr id="53" name="Text 19"/>
          <p:cNvSpPr/>
          <p:nvPr/>
        </p:nvSpPr>
        <p:spPr>
          <a:xfrm>
            <a:off x="647700" y="5219700"/>
            <a:ext cx="24003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퍼즐 그리드와 단서 목록을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명확히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분리하여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자연스럽고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편안한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</a:t>
            </a:r>
            <a:b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돕습니다.</a:t>
            </a:r>
            <a:endParaRPr lang="en-US" sz="1200" dirty="0"/>
          </a:p>
        </p:txBody>
      </p:sp>
      <p:sp>
        <p:nvSpPr>
          <p:cNvPr id="54" name="Text 20"/>
          <p:cNvSpPr/>
          <p:nvPr/>
        </p:nvSpPr>
        <p:spPr>
          <a:xfrm>
            <a:off x="857250" y="5981700"/>
            <a:ext cx="7886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62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대비율</a:t>
            </a:r>
            <a:endParaRPr lang="en-US" sz="1050" dirty="0"/>
          </a:p>
        </p:txBody>
      </p:sp>
      <p:sp>
        <p:nvSpPr>
          <p:cNvPr id="55" name="Text 21"/>
          <p:cNvSpPr/>
          <p:nvPr/>
        </p:nvSpPr>
        <p:spPr>
          <a:xfrm>
            <a:off x="3276600" y="5715000"/>
            <a:ext cx="24003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계층 구조</a:t>
            </a:r>
            <a:endParaRPr lang="en-US" sz="900" dirty="0"/>
          </a:p>
        </p:txBody>
      </p:sp>
      <p:sp>
        <p:nvSpPr>
          <p:cNvPr id="56" name="Text 22"/>
          <p:cNvSpPr/>
          <p:nvPr/>
        </p:nvSpPr>
        <p:spPr>
          <a:xfrm>
            <a:off x="6896100" y="4781550"/>
            <a:ext cx="1657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방해 요소 최소화</a:t>
            </a:r>
            <a:endParaRPr lang="en-US" sz="1500" dirty="0"/>
          </a:p>
        </p:txBody>
      </p:sp>
      <p:sp>
        <p:nvSpPr>
          <p:cNvPr id="57" name="Text 23"/>
          <p:cNvSpPr/>
          <p:nvPr/>
        </p:nvSpPr>
        <p:spPr>
          <a:xfrm>
            <a:off x="6400800" y="5219700"/>
            <a:ext cx="2514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 추가 시 '미니멀 차임(Chime)’ </a:t>
            </a:r>
            <a:b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소리만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사용하며, 로딩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스피너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외에는</a:t>
            </a:r>
            <a:b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애니메이션을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사용하지 않습니다.</a:t>
            </a:r>
            <a:endParaRPr lang="en-US" sz="1200" dirty="0"/>
          </a:p>
        </p:txBody>
      </p:sp>
      <p:sp>
        <p:nvSpPr>
          <p:cNvPr id="58" name="Text 24"/>
          <p:cNvSpPr/>
          <p:nvPr/>
        </p:nvSpPr>
        <p:spPr>
          <a:xfrm>
            <a:off x="6610350" y="5981700"/>
            <a:ext cx="12801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62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심리적 안정감 제공</a:t>
            </a:r>
            <a:endParaRPr lang="en-US" sz="1050" dirty="0"/>
          </a:p>
        </p:txBody>
      </p:sp>
      <p:sp>
        <p:nvSpPr>
          <p:cNvPr id="59" name="Text 25"/>
          <p:cNvSpPr/>
          <p:nvPr/>
        </p:nvSpPr>
        <p:spPr>
          <a:xfrm>
            <a:off x="10129838" y="5867400"/>
            <a:ext cx="3771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최소화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570" y="1642021"/>
            <a:ext cx="3555950" cy="4800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8170" y="1870621"/>
            <a:ext cx="76200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3908" y="2061121"/>
            <a:ext cx="390525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8170" y="3245942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8170" y="3779342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8170" y="4084142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8170" y="5794921"/>
            <a:ext cx="3098750" cy="419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82470" y="5947321"/>
            <a:ext cx="104775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0321" y="1642021"/>
            <a:ext cx="3556099" cy="4800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8921" y="1870621"/>
            <a:ext cx="762000" cy="762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14658" y="2061121"/>
            <a:ext cx="390525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8921" y="3245942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8921" y="3779342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8921" y="4084142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2746" y="5942063"/>
            <a:ext cx="104775" cy="13335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향후 확장 계획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457200" y="11811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COOKMATE는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기본 앱 기능 외에도 아래의 전략들을 통해 지속 가능한 비즈니스 모델로 성장할 계획입니다.</a:t>
            </a:r>
            <a:endParaRPr lang="en-US" sz="1350" dirty="0"/>
          </a:p>
        </p:txBody>
      </p:sp>
      <p:sp>
        <p:nvSpPr>
          <p:cNvPr id="38" name="Text 9"/>
          <p:cNvSpPr/>
          <p:nvPr/>
        </p:nvSpPr>
        <p:spPr>
          <a:xfrm>
            <a:off x="3182570" y="2099221"/>
            <a:ext cx="20345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제휴/커머스 연동</a:t>
            </a:r>
            <a:endParaRPr lang="en-US" sz="1800" dirty="0"/>
          </a:p>
        </p:txBody>
      </p:sp>
      <p:sp>
        <p:nvSpPr>
          <p:cNvPr id="39" name="Text 10"/>
          <p:cNvSpPr/>
          <p:nvPr/>
        </p:nvSpPr>
        <p:spPr>
          <a:xfrm>
            <a:off x="2382470" y="2785021"/>
            <a:ext cx="468630" cy="270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7E22CE"/>
                </a:solidFill>
                <a:highlight>
                  <a:srgbClr val="F3E8FF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P1</a:t>
            </a:r>
            <a:endParaRPr lang="en-US" sz="1020" dirty="0"/>
          </a:p>
        </p:txBody>
      </p:sp>
      <p:sp>
        <p:nvSpPr>
          <p:cNvPr id="40" name="Text 11"/>
          <p:cNvSpPr/>
          <p:nvPr/>
        </p:nvSpPr>
        <p:spPr>
          <a:xfrm>
            <a:off x="2887295" y="2785021"/>
            <a:ext cx="1211580" cy="270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A16207"/>
                </a:solidFill>
                <a:highlight>
                  <a:srgbClr val="FEF9C3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수익</a:t>
            </a:r>
            <a:endParaRPr lang="en-US" sz="1020" dirty="0"/>
          </a:p>
        </p:txBody>
      </p:sp>
      <p:sp>
        <p:nvSpPr>
          <p:cNvPr id="41" name="Text 12"/>
          <p:cNvSpPr/>
          <p:nvPr/>
        </p:nvSpPr>
        <p:spPr>
          <a:xfrm>
            <a:off x="2496770" y="3207842"/>
            <a:ext cx="2870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추천 레시피를 선택했으나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재료가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부족할</a:t>
            </a:r>
            <a:b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경우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바로 구매</a:t>
            </a:r>
            <a:endParaRPr lang="en-US" sz="1200" dirty="0"/>
          </a:p>
        </p:txBody>
      </p:sp>
      <p:sp>
        <p:nvSpPr>
          <p:cNvPr id="42" name="Text 13"/>
          <p:cNvSpPr/>
          <p:nvPr/>
        </p:nvSpPr>
        <p:spPr>
          <a:xfrm>
            <a:off x="2496770" y="3741242"/>
            <a:ext cx="28460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레시피 조회 시 부족한 재료 목록 표시</a:t>
            </a:r>
            <a:endParaRPr lang="en-US" sz="1200" dirty="0"/>
          </a:p>
        </p:txBody>
      </p:sp>
      <p:sp>
        <p:nvSpPr>
          <p:cNvPr id="43" name="Text 14"/>
          <p:cNvSpPr/>
          <p:nvPr/>
        </p:nvSpPr>
        <p:spPr>
          <a:xfrm>
            <a:off x="2496770" y="4046042"/>
            <a:ext cx="2870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제휴 식재료 유통사의 외부 커머스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URL로</a:t>
            </a:r>
            <a:b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</a:t>
            </a:r>
            <a:endParaRPr lang="en-US" sz="1200" dirty="0"/>
          </a:p>
        </p:txBody>
      </p:sp>
      <p:sp>
        <p:nvSpPr>
          <p:cNvPr id="44" name="Text 15"/>
          <p:cNvSpPr/>
          <p:nvPr/>
        </p:nvSpPr>
        <p:spPr>
          <a:xfrm>
            <a:off x="2525345" y="5909221"/>
            <a:ext cx="34441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비즈니스 측면의 추가 수익원 확보 기능</a:t>
            </a:r>
            <a:endParaRPr lang="en-US" sz="1050" dirty="0"/>
          </a:p>
        </p:txBody>
      </p:sp>
      <p:sp>
        <p:nvSpPr>
          <p:cNvPr id="45" name="Text 16"/>
          <p:cNvSpPr/>
          <p:nvPr/>
        </p:nvSpPr>
        <p:spPr>
          <a:xfrm>
            <a:off x="7043321" y="2099221"/>
            <a:ext cx="22631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프리미엄 구독 모델</a:t>
            </a:r>
            <a:endParaRPr lang="en-US" sz="1800" dirty="0"/>
          </a:p>
        </p:txBody>
      </p:sp>
      <p:sp>
        <p:nvSpPr>
          <p:cNvPr id="46" name="Text 17"/>
          <p:cNvSpPr/>
          <p:nvPr/>
        </p:nvSpPr>
        <p:spPr>
          <a:xfrm>
            <a:off x="6243221" y="2785021"/>
            <a:ext cx="1051560" cy="270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B91C1C"/>
                </a:solidFill>
                <a:highlight>
                  <a:srgbClr val="FEE2E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Freemium</a:t>
            </a:r>
            <a:endParaRPr lang="en-US" sz="1020" dirty="0"/>
          </a:p>
        </p:txBody>
      </p:sp>
      <p:sp>
        <p:nvSpPr>
          <p:cNvPr id="47" name="Text 18"/>
          <p:cNvSpPr/>
          <p:nvPr/>
        </p:nvSpPr>
        <p:spPr>
          <a:xfrm>
            <a:off x="7233821" y="2785021"/>
            <a:ext cx="1211580" cy="270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15803D"/>
                </a:solidFill>
                <a:highlight>
                  <a:srgbClr val="DCFCE7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수익</a:t>
            </a:r>
            <a:endParaRPr lang="en-US" sz="1020" dirty="0"/>
          </a:p>
        </p:txBody>
      </p:sp>
      <p:sp>
        <p:nvSpPr>
          <p:cNvPr id="48" name="Text 19"/>
          <p:cNvSpPr/>
          <p:nvPr/>
        </p:nvSpPr>
        <p:spPr>
          <a:xfrm>
            <a:off x="6357521" y="3207842"/>
            <a:ext cx="28702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 없는 환경, 무제한 AI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쿠킹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어시스턴트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이용</a:t>
            </a: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6357521" y="3741242"/>
            <a:ext cx="3154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고급/특정 목표(예: 미슐랭급) 레시피 접근</a:t>
            </a:r>
            <a:endParaRPr lang="en-US" sz="1200" dirty="0"/>
          </a:p>
        </p:txBody>
      </p:sp>
      <p:sp>
        <p:nvSpPr>
          <p:cNvPr id="50" name="Text 21"/>
          <p:cNvSpPr/>
          <p:nvPr/>
        </p:nvSpPr>
        <p:spPr>
          <a:xfrm>
            <a:off x="6357521" y="4046042"/>
            <a:ext cx="28702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음식 조리 시 AI에게 음성으로 물어볼 수 있는 기능</a:t>
            </a:r>
            <a:endParaRPr lang="en-US" sz="1200" dirty="0"/>
          </a:p>
        </p:txBody>
      </p:sp>
      <p:sp>
        <p:nvSpPr>
          <p:cNvPr id="51" name="Text 22"/>
          <p:cNvSpPr/>
          <p:nvPr/>
        </p:nvSpPr>
        <p:spPr>
          <a:xfrm>
            <a:off x="6395621" y="5903963"/>
            <a:ext cx="287029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기능을 구독 시 잠금 해제하는 Freesium 모델</a:t>
            </a:r>
            <a:endParaRPr lang="en-US" sz="1050" dirty="0"/>
          </a:p>
        </p:txBody>
      </p:sp>
      <p:pic>
        <p:nvPicPr>
          <p:cNvPr id="52" name="Image 17" descr="preencoded.png">
            <a:extLst>
              <a:ext uri="{FF2B5EF4-FFF2-40B4-BE49-F238E27FC236}">
                <a16:creationId xmlns:a16="http://schemas.microsoft.com/office/drawing/2014/main" id="{10090B1E-5CE6-46A3-AA75-CC65A92921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0461" y="5775871"/>
            <a:ext cx="3098750" cy="419100"/>
          </a:xfrm>
          <a:prstGeom prst="rect">
            <a:avLst/>
          </a:prstGeom>
        </p:spPr>
      </p:pic>
      <p:pic>
        <p:nvPicPr>
          <p:cNvPr id="53" name="Image 26" descr="preencoded.png">
            <a:extLst>
              <a:ext uri="{FF2B5EF4-FFF2-40B4-BE49-F238E27FC236}">
                <a16:creationId xmlns:a16="http://schemas.microsoft.com/office/drawing/2014/main" id="{FC77CA1B-0A17-484F-AC4A-A18F5EFF3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5065" y="5920384"/>
            <a:ext cx="104775" cy="133350"/>
          </a:xfrm>
          <a:prstGeom prst="rect">
            <a:avLst/>
          </a:prstGeom>
        </p:spPr>
      </p:pic>
      <p:sp>
        <p:nvSpPr>
          <p:cNvPr id="54" name="Text 22">
            <a:extLst>
              <a:ext uri="{FF2B5EF4-FFF2-40B4-BE49-F238E27FC236}">
                <a16:creationId xmlns:a16="http://schemas.microsoft.com/office/drawing/2014/main" id="{A915FDCB-F73A-491B-8B58-3961CDD5B720}"/>
              </a:ext>
            </a:extLst>
          </p:cNvPr>
          <p:cNvSpPr/>
          <p:nvPr/>
        </p:nvSpPr>
        <p:spPr>
          <a:xfrm>
            <a:off x="6377940" y="5882284"/>
            <a:ext cx="287029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기능을 구독 시 잠금 해제하는 Freesium 모델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A4F98-8E43-4753-67B9-A9881A694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9D07672-2F56-1A0E-9BF8-1D5AF7067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795C2F34-2E48-236A-F994-391067861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204242AE-13CA-7C8A-BBF2-518FDC0F1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sp>
        <p:nvSpPr>
          <p:cNvPr id="26" name="Text 0">
            <a:extLst>
              <a:ext uri="{FF2B5EF4-FFF2-40B4-BE49-F238E27FC236}">
                <a16:creationId xmlns:a16="http://schemas.microsoft.com/office/drawing/2014/main" id="{703DCA98-85AC-E4C1-0C88-B43B9610A5EF}"/>
              </a:ext>
            </a:extLst>
          </p:cNvPr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ko-KR" altLang="en-US" sz="2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기술 스택</a:t>
            </a:r>
            <a:endParaRPr lang="en-US" sz="27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FE812D42-F5FA-2E02-D153-99C8EC471CFE}"/>
              </a:ext>
            </a:extLst>
          </p:cNvPr>
          <p:cNvSpPr/>
          <p:nvPr/>
        </p:nvSpPr>
        <p:spPr>
          <a:xfrm>
            <a:off x="6705600" y="48387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pic>
        <p:nvPicPr>
          <p:cNvPr id="41" name="Image 3" descr="preencoded.png">
            <a:extLst>
              <a:ext uri="{FF2B5EF4-FFF2-40B4-BE49-F238E27FC236}">
                <a16:creationId xmlns:a16="http://schemas.microsoft.com/office/drawing/2014/main" id="{3C00CE51-D1DC-1B6C-09C9-2633B021BA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862" y="1238250"/>
            <a:ext cx="4254644" cy="4800600"/>
          </a:xfrm>
          <a:prstGeom prst="rect">
            <a:avLst/>
          </a:prstGeom>
        </p:spPr>
      </p:pic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218CDDFC-3DF7-B2A7-5092-4A591DF30A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462" y="1466850"/>
            <a:ext cx="762000" cy="762000"/>
          </a:xfrm>
          <a:prstGeom prst="rect">
            <a:avLst/>
          </a:prstGeom>
        </p:spPr>
      </p:pic>
      <p:pic>
        <p:nvPicPr>
          <p:cNvPr id="43" name="Image 5" descr="preencoded.png">
            <a:extLst>
              <a:ext uri="{FF2B5EF4-FFF2-40B4-BE49-F238E27FC236}">
                <a16:creationId xmlns:a16="http://schemas.microsoft.com/office/drawing/2014/main" id="{B2E0CB0B-E1B6-82B9-1A35-79C152ED34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150" y="1657350"/>
            <a:ext cx="428625" cy="381000"/>
          </a:xfrm>
          <a:prstGeom prst="rect">
            <a:avLst/>
          </a:prstGeom>
        </p:spPr>
      </p:pic>
      <p:sp>
        <p:nvSpPr>
          <p:cNvPr id="49" name="Text 2">
            <a:extLst>
              <a:ext uri="{FF2B5EF4-FFF2-40B4-BE49-F238E27FC236}">
                <a16:creationId xmlns:a16="http://schemas.microsoft.com/office/drawing/2014/main" id="{D8627639-BFB3-F5A6-75F7-403C4B4A6725}"/>
              </a:ext>
            </a:extLst>
          </p:cNvPr>
          <p:cNvSpPr/>
          <p:nvPr/>
        </p:nvSpPr>
        <p:spPr>
          <a:xfrm>
            <a:off x="1585862" y="1695450"/>
            <a:ext cx="22631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데이터셋 </a:t>
            </a:r>
            <a:endParaRPr lang="en-US" sz="1800" dirty="0"/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0D869DAC-66BF-36E1-2F83-D85469963336}"/>
              </a:ext>
            </a:extLst>
          </p:cNvPr>
          <p:cNvSpPr/>
          <p:nvPr/>
        </p:nvSpPr>
        <p:spPr>
          <a:xfrm>
            <a:off x="785762" y="2381250"/>
            <a:ext cx="468630" cy="270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endParaRPr lang="en-US" sz="1020" dirty="0"/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578EA378-71C7-8BC6-A306-1321EB3C7C68}"/>
              </a:ext>
            </a:extLst>
          </p:cNvPr>
          <p:cNvSpPr/>
          <p:nvPr/>
        </p:nvSpPr>
        <p:spPr>
          <a:xfrm>
            <a:off x="672263" y="2393928"/>
            <a:ext cx="1062990" cy="270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endParaRPr lang="en-US" sz="1020" dirty="0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AD3EF689-C154-8DB2-F277-CE2FBED66D64}"/>
              </a:ext>
            </a:extLst>
          </p:cNvPr>
          <p:cNvSpPr/>
          <p:nvPr/>
        </p:nvSpPr>
        <p:spPr>
          <a:xfrm>
            <a:off x="624798" y="2324100"/>
            <a:ext cx="3890772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en-US" altLang="ko-KR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1. </a:t>
            </a:r>
            <a:r>
              <a:rPr lang="ko-KR" altLang="en-US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데이터셋 학습 여부 </a:t>
            </a:r>
            <a:r>
              <a:rPr lang="en-US" altLang="ko-KR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(Dataset Training)</a:t>
            </a:r>
          </a:p>
          <a:p>
            <a:r>
              <a:rPr lang="ko-KR" altLang="en-US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학습 여부</a:t>
            </a:r>
            <a:r>
              <a:rPr lang="en-US" altLang="ko-KR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: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 별도의 커스텀 데이터셋을 사용하여 모델을 </a:t>
            </a:r>
            <a:r>
              <a:rPr lang="ko-KR" altLang="en-US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직접 학습</a:t>
            </a:r>
            <a:r>
              <a:rPr lang="en-US" altLang="ko-KR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(Fine-tuning)</a:t>
            </a:r>
            <a:r>
              <a:rPr lang="ko-KR" altLang="en-US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시키지 않았습니다</a:t>
            </a:r>
            <a:r>
              <a:rPr lang="en-US" altLang="ko-KR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400" dirty="0">
              <a:latin typeface="Noto Serif KR" panose="02020200000000000000" pitchFamily="18" charset="-127"/>
              <a:ea typeface="Noto Serif KR" panose="02020200000000000000" pitchFamily="18" charset="-127"/>
            </a:endParaRPr>
          </a:p>
          <a:p>
            <a:r>
              <a:rPr lang="ko-KR" altLang="en-US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사용 방식</a:t>
            </a:r>
            <a:r>
              <a:rPr lang="en-US" altLang="ko-KR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: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 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Google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에서 이미 방대한 데이터로 학습시킨 **사전 학습된 모델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(Pre-trained Model)**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을 사용했습니다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</a:p>
          <a:p>
            <a:r>
              <a:rPr lang="ko-KR" altLang="en-US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기술적 설명</a:t>
            </a:r>
            <a:r>
              <a:rPr lang="en-US" altLang="ko-KR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:</a:t>
            </a:r>
            <a:endParaRPr lang="ko-KR" altLang="en-US" sz="1400" dirty="0">
              <a:latin typeface="Noto Serif KR" panose="02020200000000000000" pitchFamily="18" charset="-127"/>
              <a:ea typeface="Noto Serif KR" panose="02020200000000000000" pitchFamily="18" charset="-127"/>
            </a:endParaRPr>
          </a:p>
          <a:p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대신 </a:t>
            </a:r>
            <a:r>
              <a:rPr lang="ko-KR" altLang="en-US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프롬프트 엔지니어링</a:t>
            </a:r>
            <a:r>
              <a:rPr lang="en-US" altLang="ko-KR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(Prompt Engineering)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 기법을 사용하여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, 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사용자의 냉장고 데이터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(Google Sheets)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와 프로필 정보를 프롬프트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(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질문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)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에 포함해 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AI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에게 전달하는 </a:t>
            </a:r>
            <a:r>
              <a:rPr lang="ko-KR" altLang="en-US" sz="1400" b="1" dirty="0" err="1">
                <a:latin typeface="Noto Serif KR" panose="02020200000000000000" pitchFamily="18" charset="-127"/>
                <a:ea typeface="Noto Serif KR" panose="02020200000000000000" pitchFamily="18" charset="-127"/>
              </a:rPr>
              <a:t>인컨텍스트</a:t>
            </a:r>
            <a:r>
              <a:rPr lang="ko-KR" altLang="en-US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 러닝</a:t>
            </a:r>
            <a:r>
              <a:rPr lang="en-US" altLang="ko-KR" sz="1400" b="1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(In-context Learning)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 방식을 적용했습니다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</a:p>
          <a:p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즉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, AI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를 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'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가르친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' 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것이 아니라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, AI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에게 현재 상황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(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냉장고 재료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)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을 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'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설명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'</a:t>
            </a:r>
            <a:r>
              <a:rPr lang="ko-KR" altLang="en-US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해주고 답을 얻는 방식입니다</a:t>
            </a:r>
            <a:r>
              <a:rPr lang="en-US" altLang="ko-KR" sz="1400" dirty="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2553027E-4CAA-70C9-748A-C32A96739DDD}"/>
              </a:ext>
            </a:extLst>
          </p:cNvPr>
          <p:cNvSpPr/>
          <p:nvPr/>
        </p:nvSpPr>
        <p:spPr>
          <a:xfrm>
            <a:off x="900062" y="3337471"/>
            <a:ext cx="2870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784F4BB9-995B-73E2-14D4-1F449B4F5A21}"/>
              </a:ext>
            </a:extLst>
          </p:cNvPr>
          <p:cNvSpPr/>
          <p:nvPr/>
        </p:nvSpPr>
        <p:spPr>
          <a:xfrm>
            <a:off x="900062" y="3870871"/>
            <a:ext cx="2870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B9C60705-ACD1-59F3-73F7-967DC440C7EC}"/>
              </a:ext>
            </a:extLst>
          </p:cNvPr>
          <p:cNvSpPr/>
          <p:nvPr/>
        </p:nvSpPr>
        <p:spPr>
          <a:xfrm>
            <a:off x="890537" y="5524500"/>
            <a:ext cx="34441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43D361D-3E06-8440-6599-6DE67B1A661B}"/>
              </a:ext>
            </a:extLst>
          </p:cNvPr>
          <p:cNvGraphicFramePr>
            <a:graphicFrameLocks noGrp="1"/>
          </p:cNvGraphicFramePr>
          <p:nvPr/>
        </p:nvGraphicFramePr>
        <p:xfrm>
          <a:off x="5778306" y="1495399"/>
          <a:ext cx="5177118" cy="5059680"/>
        </p:xfrm>
        <a:graphic>
          <a:graphicData uri="http://schemas.openxmlformats.org/drawingml/2006/table">
            <a:tbl>
              <a:tblPr/>
              <a:tblGrid>
                <a:gridCol w="1725706">
                  <a:extLst>
                    <a:ext uri="{9D8B030D-6E8A-4147-A177-3AD203B41FA5}">
                      <a16:colId xmlns:a16="http://schemas.microsoft.com/office/drawing/2014/main" val="2616022993"/>
                    </a:ext>
                  </a:extLst>
                </a:gridCol>
                <a:gridCol w="1725706">
                  <a:extLst>
                    <a:ext uri="{9D8B030D-6E8A-4147-A177-3AD203B41FA5}">
                      <a16:colId xmlns:a16="http://schemas.microsoft.com/office/drawing/2014/main" val="2532844128"/>
                    </a:ext>
                  </a:extLst>
                </a:gridCol>
                <a:gridCol w="1725706">
                  <a:extLst>
                    <a:ext uri="{9D8B030D-6E8A-4147-A177-3AD203B41FA5}">
                      <a16:colId xmlns:a16="http://schemas.microsoft.com/office/drawing/2014/main" val="37112556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1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기능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1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사용 모델 </a:t>
                      </a:r>
                      <a:r>
                        <a:rPr lang="en-US" altLang="ko-KR" sz="1400" b="1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(</a:t>
                      </a:r>
                      <a:r>
                        <a:rPr lang="en-US" sz="1400" b="1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Model Name)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1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역할 및 특징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603653"/>
                  </a:ext>
                </a:extLst>
              </a:tr>
              <a:tr h="4516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1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영수증</a:t>
                      </a:r>
                      <a:r>
                        <a:rPr lang="en-US" altLang="ko-KR" sz="1400" b="1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/</a:t>
                      </a:r>
                      <a:r>
                        <a:rPr lang="ko-KR" altLang="en-US" sz="1400" b="1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사진 등록</a:t>
                      </a:r>
                      <a:endParaRPr lang="ko-KR" altLang="en-US" sz="1400" dirty="0">
                        <a:effectLst/>
                        <a:latin typeface="Noto Serif KR" panose="02020200000000000000" pitchFamily="18" charset="-127"/>
                        <a:ea typeface="Noto Serif KR" panose="02020200000000000000" pitchFamily="18" charset="-127"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Gemini 1.5 Flash</a:t>
                      </a:r>
                      <a:br>
                        <a:rPr lang="en-US" sz="1400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</a:br>
                      <a:r>
                        <a:rPr lang="en-US" sz="1400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(Fallback: Gemini Pro Vision)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1" dirty="0" err="1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멀티모달</a:t>
                      </a:r>
                      <a:r>
                        <a:rPr lang="en-US" altLang="ko-KR" sz="1400" b="1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(Multimodal)</a:t>
                      </a:r>
                      <a:r>
                        <a:rPr lang="ko-KR" altLang="en-US" sz="1400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 모델</a:t>
                      </a:r>
                      <a:r>
                        <a:rPr lang="en-US" altLang="ko-KR" sz="1400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. </a:t>
                      </a:r>
                      <a:r>
                        <a:rPr lang="ko-KR" altLang="en-US" sz="1400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이미지와 텍스트를 동시에 이해하여 식재료 객체를 인식하고 </a:t>
                      </a:r>
                      <a:r>
                        <a:rPr lang="en-US" altLang="ko-KR" sz="1400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JSON </a:t>
                      </a:r>
                      <a:r>
                        <a:rPr lang="ko-KR" altLang="en-US" sz="1400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데이터로 변환합니다</a:t>
                      </a:r>
                      <a:r>
                        <a:rPr lang="en-US" altLang="ko-KR" sz="1400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.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927921"/>
                  </a:ext>
                </a:extLst>
              </a:tr>
              <a:tr h="4516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1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레시피 생성</a:t>
                      </a:r>
                      <a:endParaRPr lang="ko-KR" altLang="en-US" sz="1400">
                        <a:effectLst/>
                        <a:latin typeface="Noto Serif KR" panose="02020200000000000000" pitchFamily="18" charset="-127"/>
                        <a:ea typeface="Noto Serif KR" panose="02020200000000000000" pitchFamily="18" charset="-127"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Gemini 1.5 Flash</a:t>
                      </a:r>
                      <a:br>
                        <a:rPr lang="en-US" sz="140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</a:br>
                      <a:r>
                        <a:rPr lang="en-US" sz="140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(Fallback: Gemini 1.0 Pro)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1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텍스트 생성</a:t>
                      </a:r>
                      <a:r>
                        <a:rPr lang="en-US" altLang="ko-KR" sz="1400" b="1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(Text Generation)</a:t>
                      </a:r>
                      <a:r>
                        <a:rPr lang="ko-KR" altLang="en-US" sz="1400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 모델</a:t>
                      </a:r>
                      <a:r>
                        <a:rPr lang="en-US" altLang="ko-KR" sz="1400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. </a:t>
                      </a:r>
                      <a:r>
                        <a:rPr lang="ko-KR" altLang="en-US" sz="1400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빠른 응답 속도와 긴 컨텍스트 처리가 가능한 모델을 사용하여 재료 조합 및 조리법을 생성합니다</a:t>
                      </a:r>
                      <a:r>
                        <a:rPr lang="en-US" altLang="ko-KR" sz="1400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.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876012"/>
                  </a:ext>
                </a:extLst>
              </a:tr>
              <a:tr h="2822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1" dirty="0" err="1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챗봇</a:t>
                      </a:r>
                      <a:r>
                        <a:rPr lang="ko-KR" altLang="en-US" sz="1400" b="1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 </a:t>
                      </a:r>
                      <a:r>
                        <a:rPr lang="en-US" altLang="ko-KR" sz="1400" b="1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(</a:t>
                      </a:r>
                      <a:r>
                        <a:rPr lang="ko-KR" altLang="en-US" sz="1400" b="1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쿠킹 어시스턴트</a:t>
                      </a:r>
                      <a:r>
                        <a:rPr lang="en-US" altLang="ko-KR" sz="1400" b="1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)</a:t>
                      </a:r>
                      <a:endParaRPr lang="ko-KR" altLang="en-US" sz="1400" dirty="0">
                        <a:effectLst/>
                        <a:latin typeface="Noto Serif KR" panose="02020200000000000000" pitchFamily="18" charset="-127"/>
                        <a:ea typeface="Noto Serif KR" panose="02020200000000000000" pitchFamily="18" charset="-127"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Gemini 1.5 Flash</a:t>
                      </a:r>
                      <a:endParaRPr lang="en-US" sz="1400" dirty="0">
                        <a:effectLst/>
                        <a:latin typeface="Noto Serif KR" panose="02020200000000000000" pitchFamily="18" charset="-127"/>
                        <a:ea typeface="Noto Serif KR" panose="02020200000000000000" pitchFamily="18" charset="-127"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사용자의 질문 의도를 파악하고 자연스러운 대화형 답변을 제공합니다</a:t>
                      </a:r>
                      <a:r>
                        <a:rPr lang="en-US" altLang="ko-KR" sz="1400" dirty="0">
                          <a:effectLst/>
                          <a:latin typeface="Noto Serif KR" panose="02020200000000000000" pitchFamily="18" charset="-127"/>
                          <a:ea typeface="Noto Serif KR" panose="02020200000000000000" pitchFamily="18" charset="-127"/>
                        </a:rPr>
                        <a:t>.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74740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A4928FBD-07F0-CE89-1B3B-86C5BC6C7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306" y="834755"/>
            <a:ext cx="6006773" cy="5231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2352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Noto Serif KR" panose="02020200000000000000" pitchFamily="18" charset="-127"/>
                <a:ea typeface="Noto Serif KR" panose="02020200000000000000" pitchFamily="18" charset="-127"/>
              </a:rPr>
              <a:t>이 프로젝트는 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Noto Serif KR" panose="02020200000000000000" pitchFamily="18" charset="-127"/>
                <a:ea typeface="Noto Serif KR" panose="02020200000000000000" pitchFamily="18" charset="-127"/>
              </a:rPr>
              <a:t>Google 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Noto Serif KR" panose="02020200000000000000" pitchFamily="18" charset="-127"/>
                <a:ea typeface="Noto Serif KR" panose="02020200000000000000" pitchFamily="18" charset="-127"/>
              </a:rPr>
              <a:t>Gemini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Noto Serif KR" panose="02020200000000000000" pitchFamily="18" charset="-127"/>
                <a:ea typeface="Noto Serif KR" panose="02020200000000000000" pitchFamily="18" charset="-127"/>
              </a:rPr>
              <a:t> Family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Noto Serif KR" panose="02020200000000000000" pitchFamily="18" charset="-127"/>
                <a:ea typeface="Noto Serif KR" panose="02020200000000000000" pitchFamily="18" charset="-127"/>
              </a:rPr>
              <a:t> 모델을 상황에 맞춰 하이브리드로 사용합니다.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Noto Serif KR" panose="02020200000000000000" pitchFamily="18" charset="-127"/>
              <a:ea typeface="Noto Serif KR" panose="02020200000000000000" pitchFamily="18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Noto Serif KR" panose="02020200000000000000" pitchFamily="18" charset="-127"/>
                <a:ea typeface="Noto Serif KR" panose="02020200000000000000" pitchFamily="18" charset="-127"/>
              </a:rPr>
              <a:t> (코드상 자동 전환 로직 적용)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690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F7A28B-76CA-4531-A946-B51D382FF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318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75" y="1500358"/>
            <a:ext cx="3555950" cy="1786979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생성형 </a:t>
            </a:r>
            <a:r>
              <a:rPr lang="en-US" altLang="ko-KR" sz="27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</a:t>
            </a:r>
            <a:r>
              <a:rPr lang="ko-KR" altLang="en-US" sz="2700" b="1" dirty="0">
                <a:solidFill>
                  <a:srgbClr val="854D0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의 단점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457200" y="11811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350" dirty="0"/>
          </a:p>
        </p:txBody>
      </p:sp>
      <p:pic>
        <p:nvPicPr>
          <p:cNvPr id="11" name="Image 11" descr="preencoded.png">
            <a:extLst>
              <a:ext uri="{FF2B5EF4-FFF2-40B4-BE49-F238E27FC236}">
                <a16:creationId xmlns:a16="http://schemas.microsoft.com/office/drawing/2014/main" id="{2B7FCABD-7D37-4CE4-AE0C-CEA0206B3D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838" y="3635396"/>
            <a:ext cx="3555950" cy="1786979"/>
          </a:xfrm>
          <a:prstGeom prst="rect">
            <a:avLst/>
          </a:prstGeom>
        </p:spPr>
      </p:pic>
      <p:pic>
        <p:nvPicPr>
          <p:cNvPr id="12" name="Image 11" descr="preencoded.png">
            <a:extLst>
              <a:ext uri="{FF2B5EF4-FFF2-40B4-BE49-F238E27FC236}">
                <a16:creationId xmlns:a16="http://schemas.microsoft.com/office/drawing/2014/main" id="{E05BB370-0D33-4069-AAFF-87A5113EE2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25" y="1472430"/>
            <a:ext cx="3555950" cy="1786979"/>
          </a:xfrm>
          <a:prstGeom prst="rect">
            <a:avLst/>
          </a:prstGeom>
        </p:spPr>
      </p:pic>
      <p:pic>
        <p:nvPicPr>
          <p:cNvPr id="14" name="Image 11" descr="preencoded.png">
            <a:extLst>
              <a:ext uri="{FF2B5EF4-FFF2-40B4-BE49-F238E27FC236}">
                <a16:creationId xmlns:a16="http://schemas.microsoft.com/office/drawing/2014/main" id="{C65B0FE1-234B-42B0-AD9C-1610C0BEFD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5925" y="3635396"/>
            <a:ext cx="3555950" cy="1786979"/>
          </a:xfrm>
          <a:prstGeom prst="rect">
            <a:avLst/>
          </a:prstGeom>
        </p:spPr>
      </p:pic>
      <p:pic>
        <p:nvPicPr>
          <p:cNvPr id="15" name="Image 11" descr="preencoded.png">
            <a:extLst>
              <a:ext uri="{FF2B5EF4-FFF2-40B4-BE49-F238E27FC236}">
                <a16:creationId xmlns:a16="http://schemas.microsoft.com/office/drawing/2014/main" id="{B6A8E21E-D498-4EA5-918C-5346FB96A7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1297" y="2393847"/>
            <a:ext cx="3555950" cy="1786979"/>
          </a:xfrm>
          <a:prstGeom prst="rect">
            <a:avLst/>
          </a:prstGeom>
        </p:spPr>
      </p:pic>
      <p:sp>
        <p:nvSpPr>
          <p:cNvPr id="16" name="Text 16">
            <a:extLst>
              <a:ext uri="{FF2B5EF4-FFF2-40B4-BE49-F238E27FC236}">
                <a16:creationId xmlns:a16="http://schemas.microsoft.com/office/drawing/2014/main" id="{CCCC029B-9FDA-4F0E-8A71-28431D402F64}"/>
              </a:ext>
            </a:extLst>
          </p:cNvPr>
          <p:cNvSpPr/>
          <p:nvPr/>
        </p:nvSpPr>
        <p:spPr>
          <a:xfrm>
            <a:off x="8961106" y="2670723"/>
            <a:ext cx="2263140" cy="13715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상세하게 말했다고 </a:t>
            </a:r>
            <a:r>
              <a:rPr lang="ko-KR" altLang="en-US" sz="1800" b="1" dirty="0" err="1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생각되었어도</a:t>
            </a:r>
            <a:r>
              <a:rPr lang="ko-KR" alt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br>
              <a:rPr lang="en-US" altLang="ko-KR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</a:br>
            <a:r>
              <a:rPr lang="ko-KR" alt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원하지 않는 방향으로 흘러갈 때가 많다</a:t>
            </a:r>
            <a:r>
              <a:rPr lang="en-US" altLang="ko-KR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</a:t>
            </a:r>
            <a:endParaRPr lang="en-US" sz="18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EB4CFD55-0311-48A6-9839-CDE16C65BC17}"/>
              </a:ext>
            </a:extLst>
          </p:cNvPr>
          <p:cNvSpPr/>
          <p:nvPr/>
        </p:nvSpPr>
        <p:spPr>
          <a:xfrm>
            <a:off x="1017676" y="1957558"/>
            <a:ext cx="20345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수정을 원하지 않았던 코드까지</a:t>
            </a:r>
            <a:endParaRPr lang="en-US" altLang="ko-KR" sz="1800" b="1" dirty="0">
              <a:solidFill>
                <a:srgbClr val="713F12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  <a:p>
            <a:pPr marL="0" indent="0" algn="ctr">
              <a:lnSpc>
                <a:spcPts val="2400"/>
              </a:lnSpc>
              <a:buNone/>
            </a:pPr>
            <a:r>
              <a:rPr lang="ko-KR" altLang="en-US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</a:rPr>
              <a:t>수정된다</a:t>
            </a:r>
            <a:endParaRPr lang="en-US" sz="18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742C6220-C18E-4938-B846-649BC73B5AEF}"/>
              </a:ext>
            </a:extLst>
          </p:cNvPr>
          <p:cNvSpPr/>
          <p:nvPr/>
        </p:nvSpPr>
        <p:spPr>
          <a:xfrm>
            <a:off x="731087" y="3937174"/>
            <a:ext cx="2808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긴 분량의 코드를 수정할 때</a:t>
            </a:r>
            <a:r>
              <a:rPr lang="en-US" altLang="ko-KR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, </a:t>
            </a:r>
            <a:r>
              <a:rPr lang="ko-KR" alt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필수 로직이 의도치 않게 삭제되거나 변경되는 문제가 자주 발생했다</a:t>
            </a:r>
            <a:r>
              <a:rPr lang="en-US" altLang="ko-KR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</a:t>
            </a:r>
            <a:endParaRPr lang="en-US" sz="18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D41DD6B3-0B71-4CF7-8DE8-8902D901AF44}"/>
              </a:ext>
            </a:extLst>
          </p:cNvPr>
          <p:cNvSpPr/>
          <p:nvPr/>
        </p:nvSpPr>
        <p:spPr>
          <a:xfrm>
            <a:off x="4573626" y="1770429"/>
            <a:ext cx="310723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사용자의 지시를 충분히 해석하지 않은 채 서둘러 결론을 내리는 모습이 여러 차례 관찰되었다</a:t>
            </a:r>
            <a:r>
              <a:rPr lang="en-US" altLang="ko-KR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</a:t>
            </a: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2E43BF23-1B06-485C-BD8D-5A1FDC9EF62E}"/>
              </a:ext>
            </a:extLst>
          </p:cNvPr>
          <p:cNvSpPr/>
          <p:nvPr/>
        </p:nvSpPr>
        <p:spPr>
          <a:xfrm>
            <a:off x="4670695" y="3901953"/>
            <a:ext cx="291309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수정이 완료되었다고 하면서도 동일한 코드를 반복해서 제시하는 경우가 많았다</a:t>
            </a:r>
            <a:r>
              <a:rPr lang="en-US" altLang="ko-KR" sz="1800" b="1" dirty="0">
                <a:solidFill>
                  <a:srgbClr val="713F1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42579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1422</Words>
  <Application>Microsoft Office PowerPoint</Application>
  <PresentationFormat>와이드스크린</PresentationFormat>
  <Paragraphs>215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fkGroteskNeue</vt:lpstr>
      <vt:lpstr>Noto Sans KR</vt:lpstr>
      <vt:lpstr>Noto Serif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나우 김</cp:lastModifiedBy>
  <cp:revision>8</cp:revision>
  <dcterms:created xsi:type="dcterms:W3CDTF">2025-11-27T05:00:06Z</dcterms:created>
  <dcterms:modified xsi:type="dcterms:W3CDTF">2025-12-04T06:52:32Z</dcterms:modified>
</cp:coreProperties>
</file>